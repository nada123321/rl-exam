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c5d3298f5b40a4" /><Relationship Type="http://schemas.openxmlformats.org/officeDocument/2006/relationships/extended-properties" Target="/docProps/app.xml" Id="R3e86b785cb824b56" /><Relationship Type="http://schemas.openxmlformats.org/officeDocument/2006/relationships/officeDocument" Target="/ppt/presentation.xml" Id="Rd264783626924aa7" /></Relationships>
</file>

<file path=ppt/presentation.xml><?xml version="1.0" encoding="utf-8"?>
<p:presentation xmlns:p="http://schemas.openxmlformats.org/presentationml/2006/main">
  <p:sldMasterIdLst>
    <p:sldMasterId xmlns:r="http://schemas.openxmlformats.org/officeDocument/2006/relationships" id="2147483648" r:id="R1c57769b495d4c70"/>
  </p:sldMasterIdLst>
  <p:notesMasterIdLst>
    <p:notesMasterId xmlns:r="http://schemas.openxmlformats.org/officeDocument/2006/relationships" r:id="Rdf4341537caa4087"/>
  </p:notesMasterIdLst>
  <p:sldIdLst>
    <p:sldId xmlns:r="http://schemas.openxmlformats.org/officeDocument/2006/relationships" id="256" r:id="R463e3a1603534985"/>
    <p:sldId xmlns:r="http://schemas.openxmlformats.org/officeDocument/2006/relationships" id="257" r:id="R497072d34ca545cb"/>
    <p:sldId xmlns:r="http://schemas.openxmlformats.org/officeDocument/2006/relationships" id="258" r:id="R8c914af487be4abb"/>
    <p:sldId xmlns:r="http://schemas.openxmlformats.org/officeDocument/2006/relationships" id="259" r:id="R7d7c31c823194a4c"/>
    <p:sldId xmlns:r="http://schemas.openxmlformats.org/officeDocument/2006/relationships" id="260" r:id="R553d15fee54a491d"/>
    <p:sldId xmlns:r="http://schemas.openxmlformats.org/officeDocument/2006/relationships" id="261" r:id="Rf8e3d15dffa64866"/>
    <p:sldId xmlns:r="http://schemas.openxmlformats.org/officeDocument/2006/relationships" id="262" r:id="R995f8cd011194fa2"/>
    <p:sldId xmlns:r="http://schemas.openxmlformats.org/officeDocument/2006/relationships" id="263" r:id="R410190c09fae4e46"/>
    <p:sldId xmlns:r="http://schemas.openxmlformats.org/officeDocument/2006/relationships" id="264" r:id="Rc46b4157298c47df"/>
    <p:sldId xmlns:r="http://schemas.openxmlformats.org/officeDocument/2006/relationships" id="265" r:id="R68512b66894b4809"/>
    <p:sldId xmlns:r="http://schemas.openxmlformats.org/officeDocument/2006/relationships" id="266" r:id="R7397dc431a15445b"/>
    <p:sldId xmlns:r="http://schemas.openxmlformats.org/officeDocument/2006/relationships" id="267" r:id="Rbd9eb6a963d34303"/>
    <p:sldId xmlns:r="http://schemas.openxmlformats.org/officeDocument/2006/relationships" id="268" r:id="Raed70443561e4eb2"/>
    <p:sldId xmlns:r="http://schemas.openxmlformats.org/officeDocument/2006/relationships" id="269" r:id="R0be9d6b35cad4611"/>
    <p:sldId xmlns:r="http://schemas.openxmlformats.org/officeDocument/2006/relationships" id="270" r:id="Rca50d0fc2dfc4e21"/>
    <p:sldId xmlns:r="http://schemas.openxmlformats.org/officeDocument/2006/relationships" id="271" r:id="R30e6c2bb708448ac"/>
    <p:sldId xmlns:r="http://schemas.openxmlformats.org/officeDocument/2006/relationships" id="272" r:id="R788c6e29c3b8490a"/>
    <p:sldId xmlns:r="http://schemas.openxmlformats.org/officeDocument/2006/relationships" id="273" r:id="R15ae7b1603184cd2"/>
    <p:sldId xmlns:r="http://schemas.openxmlformats.org/officeDocument/2006/relationships" id="274" r:id="R59aca878c3534083"/>
    <p:sldId xmlns:r="http://schemas.openxmlformats.org/officeDocument/2006/relationships" id="275" r:id="Recebcbec79014798"/>
    <p:sldId xmlns:r="http://schemas.openxmlformats.org/officeDocument/2006/relationships" id="276" r:id="R71f00cc8cc824a4e"/>
    <p:sldId xmlns:r="http://schemas.openxmlformats.org/officeDocument/2006/relationships" id="277" r:id="Re4ad09ff8fcf4609"/>
    <p:sldId xmlns:r="http://schemas.openxmlformats.org/officeDocument/2006/relationships" id="278" r:id="R9bd8b95ef804473a"/>
    <p:sldId xmlns:r="http://schemas.openxmlformats.org/officeDocument/2006/relationships" id="279" r:id="R30f887bbd6be49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114ddcf5014447" /><Relationship Type="http://schemas.openxmlformats.org/officeDocument/2006/relationships/slideMaster" Target="/ppt/slideMasters/slideMaster1.xml" Id="R1c57769b495d4c70" /><Relationship Type="http://schemas.openxmlformats.org/officeDocument/2006/relationships/notesMaster" Target="/ppt/notesMasters/notesMaster1.xml" Id="Rdf4341537caa4087" /><Relationship Type="http://schemas.openxmlformats.org/officeDocument/2006/relationships/presProps" Target="/ppt/presProps.xml" Id="R136d2067737c4c32" /><Relationship Type="http://schemas.openxmlformats.org/officeDocument/2006/relationships/tableStyles" Target="/ppt/tableStyles.xml" Id="R82d86cb0bcfc49c8" /><Relationship Type="http://schemas.openxmlformats.org/officeDocument/2006/relationships/slide" Target="/ppt/slides/slide1.xml" Id="R463e3a1603534985" /><Relationship Type="http://schemas.openxmlformats.org/officeDocument/2006/relationships/slide" Target="/ppt/slides/slide2.xml" Id="R497072d34ca545cb" /><Relationship Type="http://schemas.openxmlformats.org/officeDocument/2006/relationships/slide" Target="/ppt/slides/slide3.xml" Id="R8c914af487be4abb" /><Relationship Type="http://schemas.openxmlformats.org/officeDocument/2006/relationships/slide" Target="/ppt/slides/slide4.xml" Id="R7d7c31c823194a4c" /><Relationship Type="http://schemas.openxmlformats.org/officeDocument/2006/relationships/slide" Target="/ppt/slides/slide5.xml" Id="R553d15fee54a491d" /><Relationship Type="http://schemas.openxmlformats.org/officeDocument/2006/relationships/slide" Target="/ppt/slides/slide6.xml" Id="Rf8e3d15dffa64866" /><Relationship Type="http://schemas.openxmlformats.org/officeDocument/2006/relationships/slide" Target="/ppt/slides/slide7.xml" Id="R995f8cd011194fa2" /><Relationship Type="http://schemas.openxmlformats.org/officeDocument/2006/relationships/slide" Target="/ppt/slides/slide8.xml" Id="R410190c09fae4e46" /><Relationship Type="http://schemas.openxmlformats.org/officeDocument/2006/relationships/slide" Target="/ppt/slides/slide9.xml" Id="Rc46b4157298c47df" /><Relationship Type="http://schemas.openxmlformats.org/officeDocument/2006/relationships/slide" Target="/ppt/slides/slide10.xml" Id="R68512b66894b4809" /><Relationship Type="http://schemas.openxmlformats.org/officeDocument/2006/relationships/slide" Target="/ppt/slides/slide11.xml" Id="R7397dc431a15445b" /><Relationship Type="http://schemas.openxmlformats.org/officeDocument/2006/relationships/slide" Target="/ppt/slides/slide12.xml" Id="Rbd9eb6a963d34303" /><Relationship Type="http://schemas.openxmlformats.org/officeDocument/2006/relationships/slide" Target="/ppt/slides/slide13.xml" Id="Raed70443561e4eb2" /><Relationship Type="http://schemas.openxmlformats.org/officeDocument/2006/relationships/slide" Target="/ppt/slides/slide14.xml" Id="R0be9d6b35cad4611" /><Relationship Type="http://schemas.openxmlformats.org/officeDocument/2006/relationships/slide" Target="/ppt/slides/slide15.xml" Id="Rca50d0fc2dfc4e21" /><Relationship Type="http://schemas.openxmlformats.org/officeDocument/2006/relationships/slide" Target="/ppt/slides/slide16.xml" Id="R30e6c2bb708448ac" /><Relationship Type="http://schemas.openxmlformats.org/officeDocument/2006/relationships/slide" Target="/ppt/slides/slide17.xml" Id="R788c6e29c3b8490a" /><Relationship Type="http://schemas.openxmlformats.org/officeDocument/2006/relationships/slide" Target="/ppt/slides/slide18.xml" Id="R15ae7b1603184cd2" /><Relationship Type="http://schemas.openxmlformats.org/officeDocument/2006/relationships/slide" Target="/ppt/slides/slide19.xml" Id="R59aca878c3534083" /><Relationship Type="http://schemas.openxmlformats.org/officeDocument/2006/relationships/slide" Target="/ppt/slides/slide20.xml" Id="Recebcbec79014798" /><Relationship Type="http://schemas.openxmlformats.org/officeDocument/2006/relationships/slide" Target="/ppt/slides/slide21.xml" Id="R71f00cc8cc824a4e" /><Relationship Type="http://schemas.openxmlformats.org/officeDocument/2006/relationships/slide" Target="/ppt/slides/slide22.xml" Id="Re4ad09ff8fcf4609" /><Relationship Type="http://schemas.openxmlformats.org/officeDocument/2006/relationships/slide" Target="/ppt/slides/slide23.xml" Id="R9bd8b95ef804473a" /><Relationship Type="http://schemas.openxmlformats.org/officeDocument/2006/relationships/slide" Target="/ppt/slides/slide24.xml" Id="R30f887bbd6be49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3e7dea9c54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b1faa34b584303" /><Relationship Type="http://schemas.openxmlformats.org/officeDocument/2006/relationships/notesMaster" Target="/ppt/notesMasters/notesMaster1.xml" Id="R45e7d0c836fc40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011ef4e8f74bec" /><Relationship Type="http://schemas.openxmlformats.org/officeDocument/2006/relationships/notesMaster" Target="/ppt/notesMasters/notesMaster1.xml" Id="Rbe04c0cf56654c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6de82f86314ae2" /><Relationship Type="http://schemas.openxmlformats.org/officeDocument/2006/relationships/notesMaster" Target="/ppt/notesMasters/notesMaster1.xml" Id="R419e83fcfb474b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43efadaeae4150" /><Relationship Type="http://schemas.openxmlformats.org/officeDocument/2006/relationships/notesMaster" Target="/ppt/notesMasters/notesMaster1.xml" Id="R8fe84f89b4f04b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40102c25784e23" /><Relationship Type="http://schemas.openxmlformats.org/officeDocument/2006/relationships/notesMaster" Target="/ppt/notesMasters/notesMaster1.xml" Id="R0c85023ad3034f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ff917c941b41c2" /><Relationship Type="http://schemas.openxmlformats.org/officeDocument/2006/relationships/notesMaster" Target="/ppt/notesMasters/notesMaster1.xml" Id="R3102c10f33e44f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7cc294a4b34a84" /><Relationship Type="http://schemas.openxmlformats.org/officeDocument/2006/relationships/notesMaster" Target="/ppt/notesMasters/notesMaster1.xml" Id="R176dd546a00e41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1ab12a1f2944b2" /><Relationship Type="http://schemas.openxmlformats.org/officeDocument/2006/relationships/notesMaster" Target="/ppt/notesMasters/notesMaster1.xml" Id="Rde1ca18ebf6b47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3f81234d2b4080" /><Relationship Type="http://schemas.openxmlformats.org/officeDocument/2006/relationships/notesMaster" Target="/ppt/notesMasters/notesMaster1.xml" Id="Rbb4b862a73754e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72ed4e3a03491b" /><Relationship Type="http://schemas.openxmlformats.org/officeDocument/2006/relationships/notesMaster" Target="/ppt/notesMasters/notesMaster1.xml" Id="R26b1c233667b46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cd146872e64230" /><Relationship Type="http://schemas.openxmlformats.org/officeDocument/2006/relationships/notesMaster" Target="/ppt/notesMasters/notesMaster1.xml" Id="Rd568292c07aa41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76245315dc4903" /><Relationship Type="http://schemas.openxmlformats.org/officeDocument/2006/relationships/notesMaster" Target="/ppt/notesMasters/notesMaster1.xml" Id="R9903ca50b50e45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e68af9f01d4a19" /><Relationship Type="http://schemas.openxmlformats.org/officeDocument/2006/relationships/notesMaster" Target="/ppt/notesMasters/notesMaster1.xml" Id="R08704b01c9b94f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3bf9b4bbc94d26" /><Relationship Type="http://schemas.openxmlformats.org/officeDocument/2006/relationships/notesMaster" Target="/ppt/notesMasters/notesMaster1.xml" Id="R4d1a86531ee04d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c342f516c54b36" /><Relationship Type="http://schemas.openxmlformats.org/officeDocument/2006/relationships/notesMaster" Target="/ppt/notesMasters/notesMaster1.xml" Id="R4500581da2e147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dc3b2faf894a2a" /><Relationship Type="http://schemas.openxmlformats.org/officeDocument/2006/relationships/notesMaster" Target="/ppt/notesMasters/notesMaster1.xml" Id="R61e6ccdb3f1849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83de1d32334d7d" /><Relationship Type="http://schemas.openxmlformats.org/officeDocument/2006/relationships/notesMaster" Target="/ppt/notesMasters/notesMaster1.xml" Id="R36fb498f783749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cbf197a99c4106" /><Relationship Type="http://schemas.openxmlformats.org/officeDocument/2006/relationships/notesMaster" Target="/ppt/notesMasters/notesMaster1.xml" Id="Re890128301ce47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bea0fa8e294395" /><Relationship Type="http://schemas.openxmlformats.org/officeDocument/2006/relationships/notesMaster" Target="/ppt/notesMasters/notesMaster1.xml" Id="Rd062c7fb80ec4b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7239814e0445d8" /><Relationship Type="http://schemas.openxmlformats.org/officeDocument/2006/relationships/notesMaster" Target="/ppt/notesMasters/notesMaster1.xml" Id="Rb3b6241afd124d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58bd122a854059" /><Relationship Type="http://schemas.openxmlformats.org/officeDocument/2006/relationships/notesMaster" Target="/ppt/notesMasters/notesMaster1.xml" Id="R4a5e3d5dbfa1425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27d92f4ba24e7b" /><Relationship Type="http://schemas.openxmlformats.org/officeDocument/2006/relationships/notesMaster" Target="/ppt/notesMasters/notesMaster1.xml" Id="R12999ec28c9a4d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a0cb2507804ce7" /><Relationship Type="http://schemas.openxmlformats.org/officeDocument/2006/relationships/notesMaster" Target="/ppt/notesMasters/notesMaster1.xml" Id="R269dda7d1de64a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dedff2e7e341ad" /><Relationship Type="http://schemas.openxmlformats.org/officeDocument/2006/relationships/notesMaster" Target="/ppt/notesMasters/notesMaster1.xml" Id="R345c3244a59e45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8c3491654d46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95549509a64118" /><Relationship Type="http://schemas.openxmlformats.org/officeDocument/2006/relationships/slideLayout" Target="/ppt/slideLayouts/slideLayout1.xml" Id="R995ded879358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5ded879358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fdca29af93486b" /><Relationship Type="http://schemas.openxmlformats.org/officeDocument/2006/relationships/notesSlide" Target="/ppt/notesSlides/notesSlide1.xml" Id="R5081982f511d45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991f7041ae4982" /><Relationship Type="http://schemas.openxmlformats.org/officeDocument/2006/relationships/notesSlide" Target="/ppt/notesSlides/notesSlide2.xml" Id="Rb63270e9ee6643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2be392767940d6" /><Relationship Type="http://schemas.openxmlformats.org/officeDocument/2006/relationships/notesSlide" Target="/ppt/notesSlides/notesSlide3.xml" Id="Ra92e31ea75904c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d0f598232146e7" /><Relationship Type="http://schemas.openxmlformats.org/officeDocument/2006/relationships/notesSlide" Target="/ppt/notesSlides/notesSlide4.xml" Id="R26d054b6da1f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d0feb639c04084" /><Relationship Type="http://schemas.openxmlformats.org/officeDocument/2006/relationships/notesSlide" Target="/ppt/notesSlides/notesSlide5.xml" Id="R8738e0014e554a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a156d54bb04ab5" /><Relationship Type="http://schemas.openxmlformats.org/officeDocument/2006/relationships/notesSlide" Target="/ppt/notesSlides/notesSlide6.xml" Id="R133cc68a09a64f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111dd4896a4cec" /><Relationship Type="http://schemas.openxmlformats.org/officeDocument/2006/relationships/notesSlide" Target="/ppt/notesSlides/notesSlide7.xml" Id="R8e1c07ea15884c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3544e015b94366" /><Relationship Type="http://schemas.openxmlformats.org/officeDocument/2006/relationships/notesSlide" Target="/ppt/notesSlides/notesSlide8.xml" Id="R8d450103487f48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52eeff01dd4701" /><Relationship Type="http://schemas.openxmlformats.org/officeDocument/2006/relationships/notesSlide" Target="/ppt/notesSlides/notesSlide9.xml" Id="Rc07677672ebe4a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844e4a9e194be7" /><Relationship Type="http://schemas.openxmlformats.org/officeDocument/2006/relationships/notesSlide" Target="/ppt/notesSlides/notesSlide10.xml" Id="R9e371e55700e4d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c36ebab8014933" /><Relationship Type="http://schemas.openxmlformats.org/officeDocument/2006/relationships/notesSlide" Target="/ppt/notesSlides/notesSlide11.xml" Id="R30e987c379ab40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01d6a783ff4f9f" /><Relationship Type="http://schemas.openxmlformats.org/officeDocument/2006/relationships/notesSlide" Target="/ppt/notesSlides/notesSlide12.xml" Id="Rd78076f5848c49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94025fe1e54297" /><Relationship Type="http://schemas.openxmlformats.org/officeDocument/2006/relationships/notesSlide" Target="/ppt/notesSlides/notesSlide13.xml" Id="R4d51e68e7f7b48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4a503138794208" /><Relationship Type="http://schemas.openxmlformats.org/officeDocument/2006/relationships/notesSlide" Target="/ppt/notesSlides/notesSlide14.xml" Id="R2e30d4b1ce8544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0cbe0c260443d5" /><Relationship Type="http://schemas.openxmlformats.org/officeDocument/2006/relationships/notesSlide" Target="/ppt/notesSlides/notesSlide15.xml" Id="R6924964c18f345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e56a4ad73974483" /><Relationship Type="http://schemas.openxmlformats.org/officeDocument/2006/relationships/notesSlide" Target="/ppt/notesSlides/notesSlide16.xml" Id="Re95a314c42594f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cfe938cb274c2e" /><Relationship Type="http://schemas.openxmlformats.org/officeDocument/2006/relationships/notesSlide" Target="/ppt/notesSlides/notesSlide17.xml" Id="R9fdbc0000de946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c83068195a04952" /><Relationship Type="http://schemas.openxmlformats.org/officeDocument/2006/relationships/notesSlide" Target="/ppt/notesSlides/notesSlide18.xml" Id="Rcd9e115c08ff400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0355cfe3b884233" /><Relationship Type="http://schemas.openxmlformats.org/officeDocument/2006/relationships/notesSlide" Target="/ppt/notesSlides/notesSlide19.xml" Id="Rfae86e62f26840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04725c6933c4fc3" /><Relationship Type="http://schemas.openxmlformats.org/officeDocument/2006/relationships/notesSlide" Target="/ppt/notesSlides/notesSlide20.xml" Id="R7205f3b21f7b4c3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18048147524143" /><Relationship Type="http://schemas.openxmlformats.org/officeDocument/2006/relationships/notesSlide" Target="/ppt/notesSlides/notesSlide21.xml" Id="Re1473bd45fc647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b6bb69f6e0648b1" /><Relationship Type="http://schemas.openxmlformats.org/officeDocument/2006/relationships/notesSlide" Target="/ppt/notesSlides/notesSlide22.xml" Id="R64e7e3d7444840f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52f41d402f3452c" /><Relationship Type="http://schemas.openxmlformats.org/officeDocument/2006/relationships/notesSlide" Target="/ppt/notesSlides/notesSlide23.xml" Id="R1189aba40f144c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cf24ab2edc4ed9" /><Relationship Type="http://schemas.openxmlformats.org/officeDocument/2006/relationships/notesSlide" Target="/ppt/notesSlides/notesSlide24.xml" Id="R1598e77b95f143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F24172-E6A5-4588-9E6C-CE2EDEAFAAD3}"/>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Reinforcement Learning for Robust Text-to-Cypher</a:t>
            </a:r>
          </a:p>
        </p:txBody>
      </p:sp>
      <p:sp>
        <p:nvSpPr>
          <p:cNvPr id="2" name="">
            <a:extLst xmlns:a="http://schemas.openxmlformats.org/drawingml/2006/main">
              <a:ext uri="{FF2B5EF4-FFF2-40B4-BE49-F238E27FC236}">
                <a16:creationId xmlns:a16="http://schemas.microsoft.com/office/drawing/2014/main" id="{C8D15791-F51B-4B4E-ACFC-599C1771C874}"/>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Schema selection on the Hetionet biomedical graph</a:t>
            </a:r>
          </a:p>
        </p:txBody>
      </p:sp>
      <p:sp>
        <p:nvSpPr>
          <p:cNvPr id="3" name="">
            <a:extLst xmlns:a="http://schemas.openxmlformats.org/drawingml/2006/main">
              <a:ext uri="{FF2B5EF4-FFF2-40B4-BE49-F238E27FC236}">
                <a16:creationId xmlns:a16="http://schemas.microsoft.com/office/drawing/2014/main" id="{D2538153-CA44-4BD8-A097-8824F7EE30BB}"/>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A4635A84-0CE4-401C-A712-7135710C1B0F}"/>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My project studies how reinforcement learning can control a Text-to-Cypher pipeline when user questions are paraphrased. The agent does not generate Cypher token by token. Instead, it makes higher-level decisions that are easier to learn and evaluate: how to rewrite the question, how many graph hops are needed, and which schema path should be selected.</a:t>
            </a:r>
          </a:p>
        </p:txBody>
      </p:sp>
      <p:sp>
        <p:nvSpPr>
          <p:cNvPr id="5" name="">
            <a:extLst xmlns:a="http://schemas.openxmlformats.org/drawingml/2006/main">
              <a:ext uri="{FF2B5EF4-FFF2-40B4-BE49-F238E27FC236}">
                <a16:creationId xmlns:a16="http://schemas.microsoft.com/office/drawing/2014/main" id="{9988EF04-B40C-46BA-B077-936277BD57E7}"/>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Pipeline: question -&gt; rewriting -&gt; hop prediction -&gt; schema path -&gt; reward</a:t>
            </a:r>
          </a:p>
        </p:txBody>
      </p:sp>
      <p:sp>
        <p:nvSpPr>
          <p:cNvPr id="6" name="">
            <a:extLst xmlns:a="http://schemas.openxmlformats.org/drawingml/2006/main">
              <a:ext uri="{FF2B5EF4-FFF2-40B4-BE49-F238E27FC236}">
                <a16:creationId xmlns:a16="http://schemas.microsoft.com/office/drawing/2014/main" id="{E15CEC0F-3894-4631-AB8C-D50F172168CD}"/>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B384064F-32DE-4A75-A9C4-6A6C43E21CE7}"/>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I will present the project as a reinforcement learning formulation of robust Text-to-Cypher schema selection. The key idea is that the RL agent controls intermediate decisions in the pipeline, and these decisions are evaluated through the final schema path selected for the question.</a:t>
            </a:r>
          </a:p>
        </p:txBody>
      </p:sp>
      <p:sp>
        <p:nvSpPr>
          <p:cNvPr id="8" name="">
            <a:extLst xmlns:a="http://schemas.openxmlformats.org/drawingml/2006/main">
              <a:ext uri="{FF2B5EF4-FFF2-40B4-BE49-F238E27FC236}">
                <a16:creationId xmlns:a16="http://schemas.microsoft.com/office/drawing/2014/main" id="{A97EC7A2-B0FF-4318-962C-134C5438B500}"/>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8BDFE3B3-A8BF-473F-A2C5-E56CE179A2C2}"/>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a:t>
            </a:r>
          </a:p>
        </p:txBody>
      </p:sp>
    </p:spTree>
    <p:extLst>
      <p:ext uri="{BB962C8B-B14F-4D97-AF65-F5344CB8AC3E}">
        <p14:creationId xmlns:p14="http://schemas.microsoft.com/office/powerpoint/2010/main" val="1973999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8A8DF1-501B-414F-9AD2-CAB8F6A5B4E1}"/>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Motivation</a:t>
            </a:r>
          </a:p>
        </p:txBody>
      </p:sp>
      <p:sp>
        <p:nvSpPr>
          <p:cNvPr id="2" name="">
            <a:extLst xmlns:a="http://schemas.openxmlformats.org/drawingml/2006/main">
              <a:ext uri="{FF2B5EF4-FFF2-40B4-BE49-F238E27FC236}">
                <a16:creationId xmlns:a16="http://schemas.microsoft.com/office/drawing/2014/main" id="{E7BE9C56-0E80-43DD-A754-3D98C6A916BC}"/>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Why paraphrasing matters in Text-to-Cypher</a:t>
            </a:r>
          </a:p>
        </p:txBody>
      </p:sp>
      <p:sp>
        <p:nvSpPr>
          <p:cNvPr id="3" name="">
            <a:extLst xmlns:a="http://schemas.openxmlformats.org/drawingml/2006/main">
              <a:ext uri="{FF2B5EF4-FFF2-40B4-BE49-F238E27FC236}">
                <a16:creationId xmlns:a16="http://schemas.microsoft.com/office/drawing/2014/main" id="{CAA65590-12F5-48F8-A3C7-78C611C2D4EE}"/>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0030925B-A41C-46E2-B114-E223DB994BF3}"/>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A Text-to-Cypher system may work well when the input question has the same style as the training dataset. However, real users often ask the same biomedical question using different words. For example, 'compounds treat hypertension' and 'drugs are used for hypertension' refer to the same graph relation, but the surface form is different.</a:t>
            </a:r>
          </a:p>
        </p:txBody>
      </p:sp>
      <p:sp>
        <p:nvSpPr>
          <p:cNvPr id="5" name="">
            <a:extLst xmlns:a="http://schemas.openxmlformats.org/drawingml/2006/main">
              <a:ext uri="{FF2B5EF4-FFF2-40B4-BE49-F238E27FC236}">
                <a16:creationId xmlns:a16="http://schemas.microsoft.com/office/drawing/2014/main" id="{5BBCBA50-3D4B-456E-A280-E56E63D7325C}"/>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Dataset style: Which compounds treat hypertension?</a:t>
            </a:r>
          </a:p>
        </p:txBody>
      </p:sp>
      <p:sp>
        <p:nvSpPr>
          <p:cNvPr id="6" name="">
            <a:extLst xmlns:a="http://schemas.openxmlformats.org/drawingml/2006/main">
              <a:ext uri="{FF2B5EF4-FFF2-40B4-BE49-F238E27FC236}">
                <a16:creationId xmlns:a16="http://schemas.microsoft.com/office/drawing/2014/main" id="{F45D9D5E-4052-43BA-A45E-016F970DD7D5}"/>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Paraphrased style: Which drugs are used for hypertension?</a:t>
            </a:r>
          </a:p>
        </p:txBody>
      </p:sp>
      <p:sp>
        <p:nvSpPr>
          <p:cNvPr id="7" name="">
            <a:extLst xmlns:a="http://schemas.openxmlformats.org/drawingml/2006/main">
              <a:ext uri="{FF2B5EF4-FFF2-40B4-BE49-F238E27FC236}">
                <a16:creationId xmlns:a16="http://schemas.microsoft.com/office/drawing/2014/main" id="{24C6DC6B-EB15-421B-B1E3-1DBB601B8DF9}"/>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6B4F2AFA-D02B-4512-99D5-1EF3B8232AB1}"/>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practical problem is robustness. If the model relies too much on dataset wording, a paraphrased question can lead to the wrong relation or an incomplete schema path. This is why I introduced rewriting and schema-aware decisions before query construction.</a:t>
            </a:r>
          </a:p>
        </p:txBody>
      </p:sp>
      <p:sp>
        <p:nvSpPr>
          <p:cNvPr id="9" name="">
            <a:extLst xmlns:a="http://schemas.openxmlformats.org/drawingml/2006/main">
              <a:ext uri="{FF2B5EF4-FFF2-40B4-BE49-F238E27FC236}">
                <a16:creationId xmlns:a16="http://schemas.microsoft.com/office/drawing/2014/main" id="{1A52428A-5BFD-41A9-A089-F31105233CB0}"/>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6E8824A3-1D63-4FEA-8F55-42E53FBD1E90}"/>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2</a:t>
            </a:r>
          </a:p>
        </p:txBody>
      </p:sp>
    </p:spTree>
    <p:extLst>
      <p:ext uri="{BB962C8B-B14F-4D97-AF65-F5344CB8AC3E}">
        <p14:creationId xmlns:p14="http://schemas.microsoft.com/office/powerpoint/2010/main" val="987903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903317-3163-4167-AC3C-8F69C27B0AF6}"/>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Dataset and Gold Schema Paths</a:t>
            </a:r>
          </a:p>
        </p:txBody>
      </p:sp>
      <p:sp>
        <p:nvSpPr>
          <p:cNvPr id="2" name="">
            <a:extLst xmlns:a="http://schemas.openxmlformats.org/drawingml/2006/main">
              <a:ext uri="{FF2B5EF4-FFF2-40B4-BE49-F238E27FC236}">
                <a16:creationId xmlns:a16="http://schemas.microsoft.com/office/drawing/2014/main" id="{626DCF50-2DF6-4E79-96DC-44D8A049AE1D}"/>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Gold Cypher queries provide the target schema sequence</a:t>
            </a:r>
          </a:p>
        </p:txBody>
      </p:sp>
      <p:sp>
        <p:nvSpPr>
          <p:cNvPr id="3" name="">
            <a:extLst xmlns:a="http://schemas.openxmlformats.org/drawingml/2006/main">
              <a:ext uri="{FF2B5EF4-FFF2-40B4-BE49-F238E27FC236}">
                <a16:creationId xmlns:a16="http://schemas.microsoft.com/office/drawing/2014/main" id="{FC7F2E2E-EC98-4D73-A658-791611718231}"/>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EA856ED-D5BF-419E-B4F6-DDA88CC25727}"/>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dataset contains natural language biomedical questions and their corresponding Cypher queries over Hetionet. I parse the Cypher query to extract the gold schema path. This gives a structured target for the RL environment: the agent is rewarded according to whether it selects the same schema relations as the gold query.</a:t>
            </a:r>
          </a:p>
        </p:txBody>
      </p:sp>
      <p:sp>
        <p:nvSpPr>
          <p:cNvPr id="5" name="">
            <a:extLst xmlns:a="http://schemas.openxmlformats.org/drawingml/2006/main">
              <a:ext uri="{FF2B5EF4-FFF2-40B4-BE49-F238E27FC236}">
                <a16:creationId xmlns:a16="http://schemas.microsoft.com/office/drawing/2014/main" id="{E62079A2-796F-4831-9976-7CDC302A1507}"/>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Example 1-hop: Compound -TREATS_CtD-&gt; Disease</a:t>
            </a:r>
          </a:p>
        </p:txBody>
      </p:sp>
      <p:sp>
        <p:nvSpPr>
          <p:cNvPr id="6" name="">
            <a:extLst xmlns:a="http://schemas.openxmlformats.org/drawingml/2006/main">
              <a:ext uri="{FF2B5EF4-FFF2-40B4-BE49-F238E27FC236}">
                <a16:creationId xmlns:a16="http://schemas.microsoft.com/office/drawing/2014/main" id="{76340DC6-DDE3-4D3E-ADF2-535E0763B321}"/>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Example 2-hop: Compound -TREATS_CtD-&gt; Disease, Disease -PRESENTS_DpS-&gt; Symptom</a:t>
            </a:r>
          </a:p>
        </p:txBody>
      </p:sp>
      <p:sp>
        <p:nvSpPr>
          <p:cNvPr id="7" name="">
            <a:extLst xmlns:a="http://schemas.openxmlformats.org/drawingml/2006/main">
              <a:ext uri="{FF2B5EF4-FFF2-40B4-BE49-F238E27FC236}">
                <a16:creationId xmlns:a16="http://schemas.microsoft.com/office/drawing/2014/main" id="{BE8AE0F7-65A8-471D-A4AA-5A201AC17FF6}"/>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6A4C0A8A-6BDA-4250-874D-8B25A3660717}"/>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important point is that I do not need to judge the natural language rewrite directly. I can judge the final schema decision because the original Cypher query tells me which labels and relations are correct.</a:t>
            </a:r>
          </a:p>
        </p:txBody>
      </p:sp>
      <p:sp>
        <p:nvSpPr>
          <p:cNvPr id="9" name="">
            <a:extLst xmlns:a="http://schemas.openxmlformats.org/drawingml/2006/main">
              <a:ext uri="{FF2B5EF4-FFF2-40B4-BE49-F238E27FC236}">
                <a16:creationId xmlns:a16="http://schemas.microsoft.com/office/drawing/2014/main" id="{300C63F8-D216-4F59-864B-3EACFFA96242}"/>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4996ECDA-27BB-45C6-BF1D-E1C7B4BD3AD6}"/>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3</a:t>
            </a:r>
          </a:p>
        </p:txBody>
      </p:sp>
    </p:spTree>
    <p:extLst>
      <p:ext uri="{BB962C8B-B14F-4D97-AF65-F5344CB8AC3E}">
        <p14:creationId xmlns:p14="http://schemas.microsoft.com/office/powerpoint/2010/main" val="395794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8B480-0765-460D-9D96-A60B82EB9E46}"/>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Why Schema Selection Instead of Full Cypher Generation</a:t>
            </a:r>
          </a:p>
        </p:txBody>
      </p:sp>
      <p:sp>
        <p:nvSpPr>
          <p:cNvPr id="2" name="">
            <a:extLst xmlns:a="http://schemas.openxmlformats.org/drawingml/2006/main">
              <a:ext uri="{FF2B5EF4-FFF2-40B4-BE49-F238E27FC236}">
                <a16:creationId xmlns:a16="http://schemas.microsoft.com/office/drawing/2014/main" id="{0B8D9B56-324C-4FC8-8B03-C8F377F0EA64}"/>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A controlled RL problem with a meaningful Text-to-Cypher target</a:t>
            </a:r>
          </a:p>
        </p:txBody>
      </p:sp>
      <p:sp>
        <p:nvSpPr>
          <p:cNvPr id="3" name="">
            <a:extLst xmlns:a="http://schemas.openxmlformats.org/drawingml/2006/main">
              <a:ext uri="{FF2B5EF4-FFF2-40B4-BE49-F238E27FC236}">
                <a16:creationId xmlns:a16="http://schemas.microsoft.com/office/drawing/2014/main" id="{7774C64F-F224-4399-AEBE-B0ADED390CDA}"/>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1799C06-7973-43A6-AA9D-9FD37E10FCA0}"/>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Generating a full Cypher query token by token would create a very large action space. The agent would need to choose variables, labels, relations, properties, filters, aggregation and return clauses. I reduced the problem to schema path selection, which is still central to Cypher correctness but is much more tractable for an exam project.</a:t>
            </a:r>
          </a:p>
        </p:txBody>
      </p:sp>
      <p:sp>
        <p:nvSpPr>
          <p:cNvPr id="5" name="">
            <a:extLst xmlns:a="http://schemas.openxmlformats.org/drawingml/2006/main">
              <a:ext uri="{FF2B5EF4-FFF2-40B4-BE49-F238E27FC236}">
                <a16:creationId xmlns:a16="http://schemas.microsoft.com/office/drawing/2014/main" id="{B2CFD68D-664A-4EB5-8698-5C4D85FD2F87}"/>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Full Cypher generation: very large token-level action space</a:t>
            </a:r>
          </a:p>
        </p:txBody>
      </p:sp>
      <p:sp>
        <p:nvSpPr>
          <p:cNvPr id="6" name="">
            <a:extLst xmlns:a="http://schemas.openxmlformats.org/drawingml/2006/main">
              <a:ext uri="{FF2B5EF4-FFF2-40B4-BE49-F238E27FC236}">
                <a16:creationId xmlns:a16="http://schemas.microsoft.com/office/drawing/2014/main" id="{49CA88AB-4FF0-48C8-838E-DE19541DD685}"/>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Schema selection: compact structured action space</a:t>
            </a:r>
          </a:p>
        </p:txBody>
      </p:sp>
      <p:sp>
        <p:nvSpPr>
          <p:cNvPr id="7" name="">
            <a:extLst xmlns:a="http://schemas.openxmlformats.org/drawingml/2006/main">
              <a:ext uri="{FF2B5EF4-FFF2-40B4-BE49-F238E27FC236}">
                <a16:creationId xmlns:a16="http://schemas.microsoft.com/office/drawing/2014/main" id="{C6EDBA2F-8540-4862-86A6-FCB03844DDFA}"/>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C8571813-4C2A-4211-B58B-490D305ED846}"/>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design choice keeps the project focused on reinforcement learning. The agent makes discrete, structured decisions. If the selected schema path is wrong, the final query will probably be wrong too, so the task remains meaningful for Text-to-Cypher.</a:t>
            </a:r>
          </a:p>
        </p:txBody>
      </p:sp>
      <p:sp>
        <p:nvSpPr>
          <p:cNvPr id="9" name="">
            <a:extLst xmlns:a="http://schemas.openxmlformats.org/drawingml/2006/main">
              <a:ext uri="{FF2B5EF4-FFF2-40B4-BE49-F238E27FC236}">
                <a16:creationId xmlns:a16="http://schemas.microsoft.com/office/drawing/2014/main" id="{525AE5E2-0AAC-47FD-B301-D831CF5ECF06}"/>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214DF9D5-2FBF-4AEC-9744-5A42B2371513}"/>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4</a:t>
            </a:r>
          </a:p>
        </p:txBody>
      </p:sp>
    </p:spTree>
    <p:extLst>
      <p:ext uri="{BB962C8B-B14F-4D97-AF65-F5344CB8AC3E}">
        <p14:creationId xmlns:p14="http://schemas.microsoft.com/office/powerpoint/2010/main" val="5629496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F704F0-4191-4374-B636-D9F290D154A9}"/>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Gymnasium Environment</a:t>
            </a:r>
          </a:p>
        </p:txBody>
      </p:sp>
      <p:sp>
        <p:nvSpPr>
          <p:cNvPr id="2" name="">
            <a:extLst xmlns:a="http://schemas.openxmlformats.org/drawingml/2006/main">
              <a:ext uri="{FF2B5EF4-FFF2-40B4-BE49-F238E27FC236}">
                <a16:creationId xmlns:a16="http://schemas.microsoft.com/office/drawing/2014/main" id="{21044B64-6EC8-4EC7-9317-DF3E4B0A157E}"/>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The project is formulated as an episodic RL environment</a:t>
            </a:r>
          </a:p>
        </p:txBody>
      </p:sp>
      <p:sp>
        <p:nvSpPr>
          <p:cNvPr id="3" name="">
            <a:extLst xmlns:a="http://schemas.openxmlformats.org/drawingml/2006/main">
              <a:ext uri="{FF2B5EF4-FFF2-40B4-BE49-F238E27FC236}">
                <a16:creationId xmlns:a16="http://schemas.microsoft.com/office/drawing/2014/main" id="{C52016CF-57BB-4D5C-BE39-269ECFFE55FB}"/>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97193E7-2E67-477D-BD9D-9F6A31F98624}"/>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Each episode starts with one biomedical question. The environment has phases. In the first phase the agent chooses a rewriting strategy. In the second phase it chooses whether the question is 1-hop or 2-hop. In the final phase it selects a schema path. The episode terminates after the schema decision and returns a reward.</a:t>
            </a:r>
          </a:p>
        </p:txBody>
      </p:sp>
      <p:sp>
        <p:nvSpPr>
          <p:cNvPr id="5" name="">
            <a:extLst xmlns:a="http://schemas.openxmlformats.org/drawingml/2006/main">
              <a:ext uri="{FF2B5EF4-FFF2-40B4-BE49-F238E27FC236}">
                <a16:creationId xmlns:a16="http://schemas.microsoft.com/office/drawing/2014/main" id="{A4923B98-F447-44F5-AFA8-9943DA2A2B5B}"/>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Trajectory: s0, a_rewrite, s1, a_hop, s2, a_schema, r</a:t>
            </a:r>
          </a:p>
        </p:txBody>
      </p:sp>
      <p:sp>
        <p:nvSpPr>
          <p:cNvPr id="6" name="">
            <a:extLst xmlns:a="http://schemas.openxmlformats.org/drawingml/2006/main">
              <a:ext uri="{FF2B5EF4-FFF2-40B4-BE49-F238E27FC236}">
                <a16:creationId xmlns:a16="http://schemas.microsoft.com/office/drawing/2014/main" id="{66998655-98AE-4693-ADE9-222F8904261E}"/>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54B83174-20E2-43A7-9047-5429B9216C80}"/>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is a short-horizon environment, but it is still sequential. The first action changes the question representation, the second action restricts the schema path space, and the final action determines the reward.</a:t>
            </a:r>
          </a:p>
        </p:txBody>
      </p:sp>
      <p:sp>
        <p:nvSpPr>
          <p:cNvPr id="8" name="">
            <a:extLst xmlns:a="http://schemas.openxmlformats.org/drawingml/2006/main">
              <a:ext uri="{FF2B5EF4-FFF2-40B4-BE49-F238E27FC236}">
                <a16:creationId xmlns:a16="http://schemas.microsoft.com/office/drawing/2014/main" id="{285C18BD-99D4-489D-B440-FBE77621A2E1}"/>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03F51C00-AC04-4F4F-A84D-A69B72CD0274}"/>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5</a:t>
            </a:r>
          </a:p>
        </p:txBody>
      </p:sp>
    </p:spTree>
    <p:extLst>
      <p:ext uri="{BB962C8B-B14F-4D97-AF65-F5344CB8AC3E}">
        <p14:creationId xmlns:p14="http://schemas.microsoft.com/office/powerpoint/2010/main" val="13192314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D39DF9-363C-4C75-A391-225C5EF21A3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State Representation</a:t>
            </a:r>
          </a:p>
        </p:txBody>
      </p:sp>
      <p:sp>
        <p:nvSpPr>
          <p:cNvPr id="2" name="">
            <a:extLst xmlns:a="http://schemas.openxmlformats.org/drawingml/2006/main">
              <a:ext uri="{FF2B5EF4-FFF2-40B4-BE49-F238E27FC236}">
                <a16:creationId xmlns:a16="http://schemas.microsoft.com/office/drawing/2014/main" id="{31F54DFB-242B-4627-B91F-FE5FE8D74256}"/>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The policy receives numerical features, not raw text</a:t>
            </a:r>
          </a:p>
        </p:txBody>
      </p:sp>
      <p:sp>
        <p:nvSpPr>
          <p:cNvPr id="3" name="">
            <a:extLst xmlns:a="http://schemas.openxmlformats.org/drawingml/2006/main">
              <a:ext uri="{FF2B5EF4-FFF2-40B4-BE49-F238E27FC236}">
                <a16:creationId xmlns:a16="http://schemas.microsoft.com/office/drawing/2014/main" id="{039E6A5F-A26C-4670-A599-0327159B1D34}"/>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F83C8B11-AD3A-45A2-8805-846907945221}"/>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observation is a numerical vector. It combines a MiniLM sentence embedding of the current question, explicit schema cue features and information about the current phase of the environment. This allows the same policy to act across rewriting, hop prediction and schema selection phases.</a:t>
            </a:r>
          </a:p>
        </p:txBody>
      </p:sp>
      <p:sp>
        <p:nvSpPr>
          <p:cNvPr id="5" name="">
            <a:extLst xmlns:a="http://schemas.openxmlformats.org/drawingml/2006/main">
              <a:ext uri="{FF2B5EF4-FFF2-40B4-BE49-F238E27FC236}">
                <a16:creationId xmlns:a16="http://schemas.microsoft.com/office/drawing/2014/main" id="{28CE6511-7E66-4F41-8CD9-C06753C7000E}"/>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φ(s) = [MiniLM embedding, schema cue features, phase features]</a:t>
            </a:r>
          </a:p>
        </p:txBody>
      </p:sp>
      <p:sp>
        <p:nvSpPr>
          <p:cNvPr id="6" name="">
            <a:extLst xmlns:a="http://schemas.openxmlformats.org/drawingml/2006/main">
              <a:ext uri="{FF2B5EF4-FFF2-40B4-BE49-F238E27FC236}">
                <a16:creationId xmlns:a16="http://schemas.microsoft.com/office/drawing/2014/main" id="{BF4B13CF-E270-4185-9B85-F0F71DD7AC54}"/>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MiniLM: sentence-transformers/all-MiniLM-L6-v2</a:t>
            </a:r>
          </a:p>
        </p:txBody>
      </p:sp>
      <p:sp>
        <p:nvSpPr>
          <p:cNvPr id="7" name="">
            <a:extLst xmlns:a="http://schemas.openxmlformats.org/drawingml/2006/main">
              <a:ext uri="{FF2B5EF4-FFF2-40B4-BE49-F238E27FC236}">
                <a16:creationId xmlns:a16="http://schemas.microsoft.com/office/drawing/2014/main" id="{6A3BA11B-B56C-47F5-AF9A-EBCF37AC3892}"/>
              </a:ext>
            </a:extLst>
          </p:cNvPr>
          <p:cNvSpPr>
            <a:spLocks xmlns:a="http://schemas.openxmlformats.org/drawingml/2006/main" noGrp="1"/>
          </p:cNvSpPr>
          <p:nvPr/>
        </p:nvSpPr>
        <p:spPr>
          <a:xfrm xmlns:a="http://schemas.openxmlformats.org/drawingml/2006/main">
            <a:off x="685800" y="35242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e(q) in R^384</a:t>
            </a:r>
          </a:p>
        </p:txBody>
      </p:sp>
      <p:sp>
        <p:nvSpPr>
          <p:cNvPr id="8" name="">
            <a:extLst xmlns:a="http://schemas.openxmlformats.org/drawingml/2006/main">
              <a:ext uri="{FF2B5EF4-FFF2-40B4-BE49-F238E27FC236}">
                <a16:creationId xmlns:a16="http://schemas.microsoft.com/office/drawing/2014/main" id="{0B15F5FC-012C-4883-A75B-7D6C9F1C9EDD}"/>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9" name="">
            <a:extLst xmlns:a="http://schemas.openxmlformats.org/drawingml/2006/main">
              <a:ext uri="{FF2B5EF4-FFF2-40B4-BE49-F238E27FC236}">
                <a16:creationId xmlns:a16="http://schemas.microsoft.com/office/drawing/2014/main" id="{DD40ED26-A1FE-489B-9915-78ACD130419A}"/>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MiniLM is useful because semantically similar questions tend to have nearby embeddings. This helps the policy generalize from original training questions to paraphrased test questions.</a:t>
            </a:r>
          </a:p>
        </p:txBody>
      </p:sp>
      <p:sp>
        <p:nvSpPr>
          <p:cNvPr id="10" name="">
            <a:extLst xmlns:a="http://schemas.openxmlformats.org/drawingml/2006/main">
              <a:ext uri="{FF2B5EF4-FFF2-40B4-BE49-F238E27FC236}">
                <a16:creationId xmlns:a16="http://schemas.microsoft.com/office/drawing/2014/main" id="{819DD7AD-16A3-464F-9134-68C621E56E47}"/>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1" name="">
            <a:extLst xmlns:a="http://schemas.openxmlformats.org/drawingml/2006/main">
              <a:ext uri="{FF2B5EF4-FFF2-40B4-BE49-F238E27FC236}">
                <a16:creationId xmlns:a16="http://schemas.microsoft.com/office/drawing/2014/main" id="{03237D6A-E5FD-447C-9D83-D77351AF2D41}"/>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6</a:t>
            </a:r>
          </a:p>
        </p:txBody>
      </p:sp>
    </p:spTree>
    <p:extLst>
      <p:ext uri="{BB962C8B-B14F-4D97-AF65-F5344CB8AC3E}">
        <p14:creationId xmlns:p14="http://schemas.microsoft.com/office/powerpoint/2010/main" val="6989333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A1DC9D-815F-4314-9918-7E7DA9129107}"/>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Schema Cue Features</a:t>
            </a:r>
          </a:p>
        </p:txBody>
      </p:sp>
      <p:sp>
        <p:nvSpPr>
          <p:cNvPr id="2" name="">
            <a:extLst xmlns:a="http://schemas.openxmlformats.org/drawingml/2006/main">
              <a:ext uri="{FF2B5EF4-FFF2-40B4-BE49-F238E27FC236}">
                <a16:creationId xmlns:a16="http://schemas.microsoft.com/office/drawing/2014/main" id="{19655962-C20E-4C39-9025-012A5A7F4E38}"/>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Semantic embeddings are enriched with explicit schema hints</a:t>
            </a:r>
          </a:p>
        </p:txBody>
      </p:sp>
      <p:sp>
        <p:nvSpPr>
          <p:cNvPr id="3" name="">
            <a:extLst xmlns:a="http://schemas.openxmlformats.org/drawingml/2006/main">
              <a:ext uri="{FF2B5EF4-FFF2-40B4-BE49-F238E27FC236}">
                <a16:creationId xmlns:a16="http://schemas.microsoft.com/office/drawing/2014/main" id="{B8B51593-F06C-4E08-A76B-D26F77C825D6}"/>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6A1C516-1A35-468D-A8AB-8E3280A53103}"/>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MiniLM embeddings capture general semantic similarity, but some graph-schema decisions depend on specific biomedical words. For this reason, I add schema cue features. These are lightweight binary or numerical signals for terms related to labels and relations, such as gene, disease, compound, symptom, treat, bind and participate.</a:t>
            </a:r>
          </a:p>
        </p:txBody>
      </p:sp>
      <p:sp>
        <p:nvSpPr>
          <p:cNvPr id="5" name="">
            <a:extLst xmlns:a="http://schemas.openxmlformats.org/drawingml/2006/main">
              <a:ext uri="{FF2B5EF4-FFF2-40B4-BE49-F238E27FC236}">
                <a16:creationId xmlns:a16="http://schemas.microsoft.com/office/drawing/2014/main" id="{05E7C57A-C3AD-4753-AD87-D8C2985A3F52}"/>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Final state feature vector: φ(s)</a:t>
            </a:r>
          </a:p>
        </p:txBody>
      </p:sp>
      <p:sp>
        <p:nvSpPr>
          <p:cNvPr id="6" name="">
            <a:extLst xmlns:a="http://schemas.openxmlformats.org/drawingml/2006/main">
              <a:ext uri="{FF2B5EF4-FFF2-40B4-BE49-F238E27FC236}">
                <a16:creationId xmlns:a16="http://schemas.microsoft.com/office/drawing/2014/main" id="{1FA722C8-30A8-40DC-973E-DE318A407C3D}"/>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Embedding dimension plus schema cue features</a:t>
            </a:r>
          </a:p>
        </p:txBody>
      </p:sp>
      <p:sp>
        <p:nvSpPr>
          <p:cNvPr id="7" name="">
            <a:extLst xmlns:a="http://schemas.openxmlformats.org/drawingml/2006/main">
              <a:ext uri="{FF2B5EF4-FFF2-40B4-BE49-F238E27FC236}">
                <a16:creationId xmlns:a16="http://schemas.microsoft.com/office/drawing/2014/main" id="{45C186A0-A086-46A6-8530-A62EFCD8A5AB}"/>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257FED79-B546-4EA6-A58D-4E13D7CBC8E4}"/>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schema cues do not directly give the answer. They only provide interpretable hints that make the action space easier for the policy to navigate, especially during schema path selection.</a:t>
            </a:r>
          </a:p>
        </p:txBody>
      </p:sp>
      <p:sp>
        <p:nvSpPr>
          <p:cNvPr id="9" name="">
            <a:extLst xmlns:a="http://schemas.openxmlformats.org/drawingml/2006/main">
              <a:ext uri="{FF2B5EF4-FFF2-40B4-BE49-F238E27FC236}">
                <a16:creationId xmlns:a16="http://schemas.microsoft.com/office/drawing/2014/main" id="{545A44CB-C12C-42FD-9E16-A9103B8B27DF}"/>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78D50EE1-70F0-465C-84AB-BE4E179817DB}"/>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7</a:t>
            </a:r>
          </a:p>
        </p:txBody>
      </p:sp>
    </p:spTree>
    <p:extLst>
      <p:ext uri="{BB962C8B-B14F-4D97-AF65-F5344CB8AC3E}">
        <p14:creationId xmlns:p14="http://schemas.microsoft.com/office/powerpoint/2010/main" val="16864663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22E8AB-748C-4907-A29B-6676C5A0070B}"/>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Qwen Rewriter</a:t>
            </a:r>
          </a:p>
        </p:txBody>
      </p:sp>
      <p:sp>
        <p:nvSpPr>
          <p:cNvPr id="2" name="">
            <a:extLst xmlns:a="http://schemas.openxmlformats.org/drawingml/2006/main">
              <a:ext uri="{FF2B5EF4-FFF2-40B4-BE49-F238E27FC236}">
                <a16:creationId xmlns:a16="http://schemas.microsoft.com/office/drawing/2014/main" id="{00B67E56-BF4A-4761-9952-B2FA20C85704}"/>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The LLM is a controlled component, not the RL agent</a:t>
            </a:r>
          </a:p>
        </p:txBody>
      </p:sp>
      <p:sp>
        <p:nvSpPr>
          <p:cNvPr id="3" name="">
            <a:extLst xmlns:a="http://schemas.openxmlformats.org/drawingml/2006/main">
              <a:ext uri="{FF2B5EF4-FFF2-40B4-BE49-F238E27FC236}">
                <a16:creationId xmlns:a16="http://schemas.microsoft.com/office/drawing/2014/main" id="{575C590E-1E07-45AB-9E48-BD33538BB791}"/>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4833747-BF2B-4FEF-9119-EDA6FD0BC10D}"/>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I use Qwen 1.5B as an open-source rewriter. For each question, different prompts generate different rewriting candidates. The RL agent chooses the rewriting strategy, while Qwen produces the rewritten text for that strategy. The generated rewrites are cached, so the notebook can be executed without regenerating LLM outputs.</a:t>
            </a:r>
          </a:p>
        </p:txBody>
      </p:sp>
      <p:sp>
        <p:nvSpPr>
          <p:cNvPr id="5" name="">
            <a:extLst xmlns:a="http://schemas.openxmlformats.org/drawingml/2006/main">
              <a:ext uri="{FF2B5EF4-FFF2-40B4-BE49-F238E27FC236}">
                <a16:creationId xmlns:a16="http://schemas.microsoft.com/office/drawing/2014/main" id="{1AF4A44D-1A2E-4451-9BE3-530B236504C6}"/>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Action: choose rewriting strategy</a:t>
            </a:r>
          </a:p>
        </p:txBody>
      </p:sp>
      <p:sp>
        <p:nvSpPr>
          <p:cNvPr id="6" name="">
            <a:extLst xmlns:a="http://schemas.openxmlformats.org/drawingml/2006/main">
              <a:ext uri="{FF2B5EF4-FFF2-40B4-BE49-F238E27FC236}">
                <a16:creationId xmlns:a16="http://schemas.microsoft.com/office/drawing/2014/main" id="{A2DEB5D9-79D5-41F0-81FF-4E8849AD93EA}"/>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Qwen output: rewritten question</a:t>
            </a:r>
          </a:p>
        </p:txBody>
      </p:sp>
      <p:sp>
        <p:nvSpPr>
          <p:cNvPr id="7" name="">
            <a:extLst xmlns:a="http://schemas.openxmlformats.org/drawingml/2006/main">
              <a:ext uri="{FF2B5EF4-FFF2-40B4-BE49-F238E27FC236}">
                <a16:creationId xmlns:a16="http://schemas.microsoft.com/office/drawing/2014/main" id="{97E345D3-1F2E-4809-93D7-58D4282302C2}"/>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A0FC8D3A-8256-4130-99C8-E443F7BA6540}"/>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RL decision is not token generation by Qwen. The RL decision is which rewriting strategy should be applied before schema selection. This keeps the action space small and makes the rewriting step part of the environment.</a:t>
            </a:r>
          </a:p>
        </p:txBody>
      </p:sp>
      <p:sp>
        <p:nvSpPr>
          <p:cNvPr id="9" name="">
            <a:extLst xmlns:a="http://schemas.openxmlformats.org/drawingml/2006/main">
              <a:ext uri="{FF2B5EF4-FFF2-40B4-BE49-F238E27FC236}">
                <a16:creationId xmlns:a16="http://schemas.microsoft.com/office/drawing/2014/main" id="{CD0E0082-E5A3-468A-86DE-9333D799D0C5}"/>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AA132D2D-1BA5-47B6-A1C8-9696CFE7852B}"/>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8</a:t>
            </a:r>
          </a:p>
        </p:txBody>
      </p:sp>
    </p:spTree>
    <p:extLst>
      <p:ext uri="{BB962C8B-B14F-4D97-AF65-F5344CB8AC3E}">
        <p14:creationId xmlns:p14="http://schemas.microsoft.com/office/powerpoint/2010/main" val="472899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935C1F-8775-44E3-8CB2-DB3154698C7D}"/>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Action Space</a:t>
            </a:r>
          </a:p>
        </p:txBody>
      </p:sp>
      <p:sp>
        <p:nvSpPr>
          <p:cNvPr id="2" name="">
            <a:extLst xmlns:a="http://schemas.openxmlformats.org/drawingml/2006/main">
              <a:ext uri="{FF2B5EF4-FFF2-40B4-BE49-F238E27FC236}">
                <a16:creationId xmlns:a16="http://schemas.microsoft.com/office/drawing/2014/main" id="{39FC4181-733F-460C-B3CA-72FD3BDBCF71}"/>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Three levels of decisions</a:t>
            </a:r>
          </a:p>
        </p:txBody>
      </p:sp>
      <p:sp>
        <p:nvSpPr>
          <p:cNvPr id="3" name="">
            <a:extLst xmlns:a="http://schemas.openxmlformats.org/drawingml/2006/main">
              <a:ext uri="{FF2B5EF4-FFF2-40B4-BE49-F238E27FC236}">
                <a16:creationId xmlns:a16="http://schemas.microsoft.com/office/drawing/2014/main" id="{7EAEEAD0-F04A-476E-A767-4C7AF671D689}"/>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C205DBB-B488-42A6-9599-6F0713E91EDA}"/>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action space is hierarchical. First, the agent chooses a rewriting strategy: keep original, entity normalization, relation normalization, full normalization or aggressive rewrite. Then it chooses the hop count. Finally, it chooses a schema path compatible with the selected hop count.</a:t>
            </a:r>
          </a:p>
        </p:txBody>
      </p:sp>
      <p:sp>
        <p:nvSpPr>
          <p:cNvPr id="5" name="">
            <a:extLst xmlns:a="http://schemas.openxmlformats.org/drawingml/2006/main">
              <a:ext uri="{FF2B5EF4-FFF2-40B4-BE49-F238E27FC236}">
                <a16:creationId xmlns:a16="http://schemas.microsoft.com/office/drawing/2014/main" id="{B793CBB9-A5B8-42FD-AAA8-E1DBF2F97650}"/>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a = rewriting action, hop action, or schema path action</a:t>
            </a:r>
          </a:p>
        </p:txBody>
      </p:sp>
      <p:sp>
        <p:nvSpPr>
          <p:cNvPr id="6" name="">
            <a:extLst xmlns:a="http://schemas.openxmlformats.org/drawingml/2006/main">
              <a:ext uri="{FF2B5EF4-FFF2-40B4-BE49-F238E27FC236}">
                <a16:creationId xmlns:a16="http://schemas.microsoft.com/office/drawing/2014/main" id="{93F49F56-47C7-45E4-B96C-5C94B9AA34EE}"/>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30641E40-0406-4884-BFAF-756BED70652A}"/>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hierarchy is important. It avoids a huge flat action space and makes the policy easier to train. Each action has a clear role in the pipeline.</a:t>
            </a:r>
          </a:p>
        </p:txBody>
      </p:sp>
      <p:sp>
        <p:nvSpPr>
          <p:cNvPr id="8" name="">
            <a:extLst xmlns:a="http://schemas.openxmlformats.org/drawingml/2006/main">
              <a:ext uri="{FF2B5EF4-FFF2-40B4-BE49-F238E27FC236}">
                <a16:creationId xmlns:a16="http://schemas.microsoft.com/office/drawing/2014/main" id="{83A62C64-928F-4252-95B1-0FFF8B956506}"/>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C2A744C5-EC48-4BD2-BDFB-24AF8E83DFB4}"/>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9</a:t>
            </a:r>
          </a:p>
        </p:txBody>
      </p:sp>
    </p:spTree>
    <p:extLst>
      <p:ext uri="{BB962C8B-B14F-4D97-AF65-F5344CB8AC3E}">
        <p14:creationId xmlns:p14="http://schemas.microsoft.com/office/powerpoint/2010/main" val="15455007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A1BAAF-A4C9-4C31-8D8E-1416B5CEAD3D}"/>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Policy</a:t>
            </a:r>
          </a:p>
        </p:txBody>
      </p:sp>
      <p:sp>
        <p:nvSpPr>
          <p:cNvPr id="2" name="">
            <a:extLst xmlns:a="http://schemas.openxmlformats.org/drawingml/2006/main">
              <a:ext uri="{FF2B5EF4-FFF2-40B4-BE49-F238E27FC236}">
                <a16:creationId xmlns:a16="http://schemas.microsoft.com/office/drawing/2014/main" id="{10F6D0BF-D687-4D03-92F3-1558F3CFC3EC}"/>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Masked softmax over valid actions</a:t>
            </a:r>
          </a:p>
        </p:txBody>
      </p:sp>
      <p:sp>
        <p:nvSpPr>
          <p:cNvPr id="3" name="">
            <a:extLst xmlns:a="http://schemas.openxmlformats.org/drawingml/2006/main">
              <a:ext uri="{FF2B5EF4-FFF2-40B4-BE49-F238E27FC236}">
                <a16:creationId xmlns:a16="http://schemas.microsoft.com/office/drawing/2014/main" id="{8B9AEBD1-3377-46BE-8F47-8CD3D26361CF}"/>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46C40EF7-D853-4C37-B60E-BE4B981ECEFE}"/>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policy is a parametric softmax policy. For each valid action, the policy computes a score from the state features and the parameters of that action. These scores are normalized into probabilities. During training, actions are sampled from the policy. During evaluation, the most probable valid action is selected.</a:t>
            </a:r>
          </a:p>
        </p:txBody>
      </p:sp>
      <p:sp>
        <p:nvSpPr>
          <p:cNvPr id="5" name="">
            <a:extLst xmlns:a="http://schemas.openxmlformats.org/drawingml/2006/main">
              <a:ext uri="{FF2B5EF4-FFF2-40B4-BE49-F238E27FC236}">
                <a16:creationId xmlns:a16="http://schemas.microsoft.com/office/drawing/2014/main" id="{734EA4BE-48BE-4D03-AF6A-0EACFFB5D3C0}"/>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z_a = φ(s)^T θ_a</a:t>
            </a:r>
          </a:p>
        </p:txBody>
      </p:sp>
      <p:sp>
        <p:nvSpPr>
          <p:cNvPr id="6" name="">
            <a:extLst xmlns:a="http://schemas.openxmlformats.org/drawingml/2006/main">
              <a:ext uri="{FF2B5EF4-FFF2-40B4-BE49-F238E27FC236}">
                <a16:creationId xmlns:a16="http://schemas.microsoft.com/office/drawing/2014/main" id="{5A63FC25-2A0D-4B3B-980D-868D312D273B}"/>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πθ(a|s) = exp(z_a) / Σ valid actions exp(z_a')</a:t>
            </a:r>
          </a:p>
        </p:txBody>
      </p:sp>
      <p:sp>
        <p:nvSpPr>
          <p:cNvPr id="7" name="">
            <a:extLst xmlns:a="http://schemas.openxmlformats.org/drawingml/2006/main">
              <a:ext uri="{FF2B5EF4-FFF2-40B4-BE49-F238E27FC236}">
                <a16:creationId xmlns:a16="http://schemas.microsoft.com/office/drawing/2014/main" id="{C6060DE4-A2D9-40FD-A1FA-4DD786254593}"/>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D92EB766-9863-4170-87C5-10DE70BC374C}"/>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parameters θ are learned. If an action leads to higher reward, policy-gradient updates increase the probability of choosing similar actions in similar states.</a:t>
            </a:r>
          </a:p>
        </p:txBody>
      </p:sp>
      <p:sp>
        <p:nvSpPr>
          <p:cNvPr id="9" name="">
            <a:extLst xmlns:a="http://schemas.openxmlformats.org/drawingml/2006/main">
              <a:ext uri="{FF2B5EF4-FFF2-40B4-BE49-F238E27FC236}">
                <a16:creationId xmlns:a16="http://schemas.microsoft.com/office/drawing/2014/main" id="{3B50803D-20DF-4213-83D8-2EF14E6A5726}"/>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264698F6-E731-467E-9821-530B052DF26A}"/>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10</a:t>
            </a:r>
          </a:p>
        </p:txBody>
      </p:sp>
    </p:spTree>
    <p:extLst>
      <p:ext uri="{BB962C8B-B14F-4D97-AF65-F5344CB8AC3E}">
        <p14:creationId xmlns:p14="http://schemas.microsoft.com/office/powerpoint/2010/main" val="7509475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285656-3C8E-47FA-8C9D-FBC76DC61ED0}"/>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Action Masking</a:t>
            </a:r>
          </a:p>
        </p:txBody>
      </p:sp>
      <p:sp>
        <p:nvSpPr>
          <p:cNvPr id="2" name="">
            <a:extLst xmlns:a="http://schemas.openxmlformats.org/drawingml/2006/main">
              <a:ext uri="{FF2B5EF4-FFF2-40B4-BE49-F238E27FC236}">
                <a16:creationId xmlns:a16="http://schemas.microsoft.com/office/drawing/2014/main" id="{A91C1C51-CE3C-4036-93E2-293E3272CB5C}"/>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Invalid actions receive probability zero</a:t>
            </a:r>
          </a:p>
        </p:txBody>
      </p:sp>
      <p:sp>
        <p:nvSpPr>
          <p:cNvPr id="3" name="">
            <a:extLst xmlns:a="http://schemas.openxmlformats.org/drawingml/2006/main">
              <a:ext uri="{FF2B5EF4-FFF2-40B4-BE49-F238E27FC236}">
                <a16:creationId xmlns:a16="http://schemas.microsoft.com/office/drawing/2014/main" id="{BE87D699-3B24-4A41-8044-932247AC7751}"/>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00DA6D74-4903-40E3-BBF4-38535AB13DAD}"/>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At each phase, only a subset of actions is meaningful. In the rewriting phase, schema paths are not valid. In the hop phase, rewriting actions are not valid. In the schema phase, only paths compatible with the selected hop count and lexical mask are valid.</a:t>
            </a:r>
          </a:p>
        </p:txBody>
      </p:sp>
      <p:sp>
        <p:nvSpPr>
          <p:cNvPr id="5" name="">
            <a:extLst xmlns:a="http://schemas.openxmlformats.org/drawingml/2006/main">
              <a:ext uri="{FF2B5EF4-FFF2-40B4-BE49-F238E27FC236}">
                <a16:creationId xmlns:a16="http://schemas.microsoft.com/office/drawing/2014/main" id="{B394588F-2066-46FB-A173-BD1D7D3972A4}"/>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πθ(a|s) = 0 if a is not in A_valid(s)</a:t>
            </a:r>
          </a:p>
        </p:txBody>
      </p:sp>
      <p:sp>
        <p:nvSpPr>
          <p:cNvPr id="6" name="">
            <a:extLst xmlns:a="http://schemas.openxmlformats.org/drawingml/2006/main">
              <a:ext uri="{FF2B5EF4-FFF2-40B4-BE49-F238E27FC236}">
                <a16:creationId xmlns:a16="http://schemas.microsoft.com/office/drawing/2014/main" id="{97A34A6C-0B5B-4DDB-8EAF-28A97DCA8F59}"/>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47AD4068-9710-4444-9023-DC6793596836}"/>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Action masking does not solve the task for the agent. It only prevents impossible actions. The policy still has to choose the correct action among the valid ones.</a:t>
            </a:r>
          </a:p>
        </p:txBody>
      </p:sp>
      <p:sp>
        <p:nvSpPr>
          <p:cNvPr id="8" name="">
            <a:extLst xmlns:a="http://schemas.openxmlformats.org/drawingml/2006/main">
              <a:ext uri="{FF2B5EF4-FFF2-40B4-BE49-F238E27FC236}">
                <a16:creationId xmlns:a16="http://schemas.microsoft.com/office/drawing/2014/main" id="{FA57A253-2291-41C2-8D42-B39C9BDAC1CA}"/>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F5BECD54-6834-4E1F-89FD-7B3A0DF2A4A9}"/>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11</a:t>
            </a:r>
          </a:p>
        </p:txBody>
      </p:sp>
    </p:spTree>
    <p:extLst>
      <p:ext uri="{BB962C8B-B14F-4D97-AF65-F5344CB8AC3E}">
        <p14:creationId xmlns:p14="http://schemas.microsoft.com/office/powerpoint/2010/main" val="1026645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C050B2-D189-47AE-9C00-4723BD68B2BE}"/>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Reward Design</a:t>
            </a:r>
          </a:p>
        </p:txBody>
      </p:sp>
      <p:sp>
        <p:nvSpPr>
          <p:cNvPr id="2" name="">
            <a:extLst xmlns:a="http://schemas.openxmlformats.org/drawingml/2006/main">
              <a:ext uri="{FF2B5EF4-FFF2-40B4-BE49-F238E27FC236}">
                <a16:creationId xmlns:a16="http://schemas.microsoft.com/office/drawing/2014/main" id="{0C74594E-05FC-4901-8732-9E43F0574078}"/>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Exact match and F1 evaluate the selected schema path</a:t>
            </a:r>
          </a:p>
        </p:txBody>
      </p:sp>
      <p:sp>
        <p:nvSpPr>
          <p:cNvPr id="3" name="">
            <a:extLst xmlns:a="http://schemas.openxmlformats.org/drawingml/2006/main">
              <a:ext uri="{FF2B5EF4-FFF2-40B4-BE49-F238E27FC236}">
                <a16:creationId xmlns:a16="http://schemas.microsoft.com/office/drawing/2014/main" id="{C1F4F018-3747-4600-8EB7-B7C26A27E4E9}"/>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A42B13F0-7916-4328-B3EB-EF8B94A726C5}"/>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reward compares the predicted schema path with the gold schema path extracted from the Cypher query. Exact match measures complete success. F1 gives partial credit when the agent selects only part of the correct schema. This is important because 2-hop examples can be partially correct even when exact match is zero.</a:t>
            </a:r>
          </a:p>
        </p:txBody>
      </p:sp>
      <p:sp>
        <p:nvSpPr>
          <p:cNvPr id="5" name="">
            <a:extLst xmlns:a="http://schemas.openxmlformats.org/drawingml/2006/main">
              <a:ext uri="{FF2B5EF4-FFF2-40B4-BE49-F238E27FC236}">
                <a16:creationId xmlns:a16="http://schemas.microsoft.com/office/drawing/2014/main" id="{1D1F6C16-EDB9-4E35-8B57-62E494CD9326}"/>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Exact = 1 if predicted path equals gold path</a:t>
            </a:r>
          </a:p>
        </p:txBody>
      </p:sp>
      <p:sp>
        <p:nvSpPr>
          <p:cNvPr id="6" name="">
            <a:extLst xmlns:a="http://schemas.openxmlformats.org/drawingml/2006/main">
              <a:ext uri="{FF2B5EF4-FFF2-40B4-BE49-F238E27FC236}">
                <a16:creationId xmlns:a16="http://schemas.microsoft.com/office/drawing/2014/main" id="{DF923D57-4BB2-4563-984C-2324D00568CB}"/>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F1 = 2 * Precision * Recall / (Precision + Recall)</a:t>
            </a:r>
          </a:p>
        </p:txBody>
      </p:sp>
      <p:sp>
        <p:nvSpPr>
          <p:cNvPr id="7" name="">
            <a:extLst xmlns:a="http://schemas.openxmlformats.org/drawingml/2006/main">
              <a:ext uri="{FF2B5EF4-FFF2-40B4-BE49-F238E27FC236}">
                <a16:creationId xmlns:a16="http://schemas.microsoft.com/office/drawing/2014/main" id="{9E7D1116-CBC0-477E-B5B0-BAAEEDCE3D2B}"/>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EDAAE5AE-A4F7-4A73-A9E0-3AEFE3F6C0C6}"/>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reward design avoids a completely sparse signal. For example, if the gold path has two relations and the agent selects one correct relation, exact match is still zero, but F1 gives a useful learning signal.</a:t>
            </a:r>
          </a:p>
        </p:txBody>
      </p:sp>
      <p:sp>
        <p:nvSpPr>
          <p:cNvPr id="9" name="">
            <a:extLst xmlns:a="http://schemas.openxmlformats.org/drawingml/2006/main">
              <a:ext uri="{FF2B5EF4-FFF2-40B4-BE49-F238E27FC236}">
                <a16:creationId xmlns:a16="http://schemas.microsoft.com/office/drawing/2014/main" id="{17152FAA-325B-4B20-9EE7-315C9E6672E6}"/>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663283D8-8889-430C-A865-61CB291E2F58}"/>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12</a:t>
            </a:r>
          </a:p>
        </p:txBody>
      </p:sp>
    </p:spTree>
    <p:extLst>
      <p:ext uri="{BB962C8B-B14F-4D97-AF65-F5344CB8AC3E}">
        <p14:creationId xmlns:p14="http://schemas.microsoft.com/office/powerpoint/2010/main" val="1374438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E0A5949-B0E8-4599-A0FA-F3EF66586E3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Reward Shaping</a:t>
            </a:r>
          </a:p>
        </p:txBody>
      </p:sp>
      <p:sp>
        <p:nvSpPr>
          <p:cNvPr id="2" name="subtitle">
            <a:extLst xmlns:a="http://schemas.openxmlformats.org/drawingml/2006/main">
              <a:ext uri="{FF2B5EF4-FFF2-40B4-BE49-F238E27FC236}">
                <a16:creationId xmlns:a16="http://schemas.microsoft.com/office/drawing/2014/main" id="{140FDF51-2C8A-415F-8C31-8E317EF533E4}"/>
              </a:ext>
            </a:extLst>
          </p:cNvPr>
          <p:cNvSpPr>
            <a:spLocks xmlns:a="http://schemas.openxmlformats.org/drawingml/2006/main" noGrp="1"/>
          </p:cNvSpPr>
          <p:nvPr/>
        </p:nvSpPr>
        <p:spPr>
          <a:xfrm xmlns:a="http://schemas.openxmlformats.org/drawingml/2006/main">
            <a:off x="514350" y="7143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75569"/>
                </a:solidFill>
                <a:latin typeface="Noto Sans"/>
                <a:ea typeface="Noto Sans"/>
                <a:cs typeface="Noto Sans"/>
              </a:defRPr>
            </a:pPr>
            <a:r>
              <a:rPr sz="1200" b="0">
                <a:solidFill>
                  <a:srgbClr val="475569"/>
                </a:solidFill>
                <a:latin typeface="Noto Sans"/>
                <a:ea typeface="Noto Sans"/>
                <a:cs typeface="Noto Sans"/>
              </a:rPr>
              <a:t>Intermediate rewards guide exploration, while the schema path reward remains dominant</a:t>
            </a:r>
          </a:p>
        </p:txBody>
      </p:sp>
      <p:sp>
        <p:nvSpPr>
          <p:cNvPr id="3" name="title-rule">
            <a:extLst xmlns:a="http://schemas.openxmlformats.org/drawingml/2006/main">
              <a:ext uri="{FF2B5EF4-FFF2-40B4-BE49-F238E27FC236}">
                <a16:creationId xmlns:a16="http://schemas.microsoft.com/office/drawing/2014/main" id="{311C7D2A-0FA9-458E-ACDE-74C7197ECBDB}"/>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CBD5E1"/>
          </a:solidFill>
          <a:ln xmlns:a="http://schemas.openxmlformats.org/drawingml/2006/main" w="0">
            <a:noFill/>
          </a:ln>
        </p:spPr>
      </p:sp>
      <p:sp>
        <p:nvSpPr>
          <p:cNvPr id="4" name="body">
            <a:extLst xmlns:a="http://schemas.openxmlformats.org/drawingml/2006/main">
              <a:ext uri="{FF2B5EF4-FFF2-40B4-BE49-F238E27FC236}">
                <a16:creationId xmlns:a16="http://schemas.microsoft.com/office/drawing/2014/main" id="{5BF0D532-6EDC-4FED-B9E0-5424E819E858}"/>
              </a:ext>
            </a:extLst>
          </p:cNvPr>
          <p:cNvSpPr>
            <a:spLocks xmlns:a="http://schemas.openxmlformats.org/drawingml/2006/main" noGrp="1"/>
          </p:cNvSpPr>
          <p:nvPr/>
        </p:nvSpPr>
        <p:spPr>
          <a:xfrm xmlns:a="http://schemas.openxmlformats.org/drawingml/2006/main">
            <a:off x="685800" y="13144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11827"/>
                </a:solidFill>
                <a:latin typeface="Noto Sans"/>
                <a:ea typeface="Noto Sans"/>
                <a:cs typeface="Noto Sans"/>
              </a:defRPr>
            </a:pPr>
            <a:r>
              <a:rPr sz="1275" b="0">
                <a:solidFill>
                  <a:srgbClr val="111827"/>
                </a:solidFill>
                <a:latin typeface="Noto Sans"/>
                <a:ea typeface="Noto Sans"/>
                <a:cs typeface="Noto Sans"/>
              </a:rPr>
              <a:t>The episode has three decision phases: rewriting, hop-count prediction, and schema path selection. The rewriting step receives no direct reward. The hop step receives only a small shaped signal, for example +0.2 when the predicted hop count is correct. The largest reward is assigned at the final schema path step, where the selected path is compared with the gold path.</a:t>
            </a:r>
          </a:p>
        </p:txBody>
      </p:sp>
      <p:sp>
        <p:nvSpPr>
          <p:cNvPr id="5" name="formula-1">
            <a:extLst xmlns:a="http://schemas.openxmlformats.org/drawingml/2006/main">
              <a:ext uri="{FF2B5EF4-FFF2-40B4-BE49-F238E27FC236}">
                <a16:creationId xmlns:a16="http://schemas.microsoft.com/office/drawing/2014/main" id="{9D6622BE-3544-4BB3-9488-B9AFF9E599CF}"/>
              </a:ext>
            </a:extLst>
          </p:cNvPr>
          <p:cNvSpPr>
            <a:spLocks xmlns:a="http://schemas.openxmlformats.org/drawingml/2006/main" noGrp="1"/>
          </p:cNvSpPr>
          <p:nvPr/>
        </p:nvSpPr>
        <p:spPr>
          <a:xfrm xmlns:a="http://schemas.openxmlformats.org/drawingml/2006/main">
            <a:off x="685800" y="2667000"/>
            <a:ext cx="995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0F172A"/>
                </a:solidFill>
                <a:latin typeface="Noto Sans"/>
                <a:ea typeface="Noto Sans"/>
                <a:cs typeface="Noto Sans"/>
              </a:defRPr>
            </a:pPr>
            <a:r>
              <a:rPr sz="1500" b="1">
                <a:solidFill>
                  <a:srgbClr val="0F172A"/>
                </a:solidFill>
                <a:latin typeface="Noto Sans"/>
                <a:ea typeface="Noto Sans"/>
                <a:cs typeface="Noto Sans"/>
              </a:rPr>
              <a:t>r_final = -1 + 2F1 + 0.7 * Exact + hop_bonus - rewrite_cost</a:t>
            </a:r>
          </a:p>
        </p:txBody>
      </p:sp>
      <p:sp>
        <p:nvSpPr>
          <p:cNvPr id="6" name="formula-2">
            <a:extLst xmlns:a="http://schemas.openxmlformats.org/drawingml/2006/main">
              <a:ext uri="{FF2B5EF4-FFF2-40B4-BE49-F238E27FC236}">
                <a16:creationId xmlns:a16="http://schemas.microsoft.com/office/drawing/2014/main" id="{3AEE6C34-54FD-40DD-8109-E613F916356C}"/>
              </a:ext>
            </a:extLst>
          </p:cNvPr>
          <p:cNvSpPr>
            <a:spLocks xmlns:a="http://schemas.openxmlformats.org/drawingml/2006/main" noGrp="1"/>
          </p:cNvSpPr>
          <p:nvPr/>
        </p:nvSpPr>
        <p:spPr>
          <a:xfrm xmlns:a="http://schemas.openxmlformats.org/drawingml/2006/main">
            <a:off x="685800" y="3086100"/>
            <a:ext cx="995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34155"/>
                </a:solidFill>
                <a:latin typeface="Noto Sans"/>
                <a:ea typeface="Noto Sans"/>
                <a:cs typeface="Noto Sans"/>
              </a:defRPr>
            </a:pPr>
            <a:r>
              <a:rPr sz="1350" b="0">
                <a:solidFill>
                  <a:srgbClr val="334155"/>
                </a:solidFill>
                <a:latin typeface="Noto Sans"/>
                <a:ea typeface="Noto Sans"/>
                <a:cs typeface="Noto Sans"/>
              </a:rPr>
              <a:t>F1 gives partial credit; Exact rewards complete schema-path success</a:t>
            </a:r>
          </a:p>
        </p:txBody>
      </p:sp>
      <p:sp>
        <p:nvSpPr>
          <p:cNvPr id="7" name="formula-3">
            <a:extLst xmlns:a="http://schemas.openxmlformats.org/drawingml/2006/main">
              <a:ext uri="{FF2B5EF4-FFF2-40B4-BE49-F238E27FC236}">
                <a16:creationId xmlns:a16="http://schemas.microsoft.com/office/drawing/2014/main" id="{984ADDCC-C618-45C4-A13E-21C5F27622E0}"/>
              </a:ext>
            </a:extLst>
          </p:cNvPr>
          <p:cNvSpPr>
            <a:spLocks xmlns:a="http://schemas.openxmlformats.org/drawingml/2006/main" noGrp="1"/>
          </p:cNvSpPr>
          <p:nvPr/>
        </p:nvSpPr>
        <p:spPr>
          <a:xfrm xmlns:a="http://schemas.openxmlformats.org/drawingml/2006/main">
            <a:off x="685800" y="3505200"/>
            <a:ext cx="995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34155"/>
                </a:solidFill>
                <a:latin typeface="Noto Sans"/>
                <a:ea typeface="Noto Sans"/>
                <a:cs typeface="Noto Sans"/>
              </a:defRPr>
            </a:pPr>
            <a:r>
              <a:rPr sz="1350" b="0">
                <a:solidFill>
                  <a:srgbClr val="334155"/>
                </a:solidFill>
                <a:latin typeface="Noto Sans"/>
                <a:ea typeface="Noto Sans"/>
                <a:cs typeface="Noto Sans"/>
              </a:rPr>
              <a:t>This makes the learning signal less sparse without changing the main goal</a:t>
            </a:r>
          </a:p>
        </p:txBody>
      </p:sp>
      <p:sp>
        <p:nvSpPr>
          <p:cNvPr id="8" name="script-label">
            <a:extLst xmlns:a="http://schemas.openxmlformats.org/drawingml/2006/main">
              <a:ext uri="{FF2B5EF4-FFF2-40B4-BE49-F238E27FC236}">
                <a16:creationId xmlns:a16="http://schemas.microsoft.com/office/drawing/2014/main" id="{6F4DD4DD-1B45-49A7-ABE6-503BDAFD4BB2}"/>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475569"/>
                </a:solidFill>
                <a:latin typeface="Noto Sans"/>
                <a:ea typeface="Noto Sans"/>
                <a:cs typeface="Noto Sans"/>
              </a:defRPr>
            </a:pPr>
            <a:r>
              <a:rPr sz="975" b="1">
                <a:solidFill>
                  <a:srgbClr val="475569"/>
                </a:solidFill>
                <a:latin typeface="Noto Sans"/>
                <a:ea typeface="Noto Sans"/>
                <a:cs typeface="Noto Sans"/>
              </a:rPr>
              <a:t>Presentation script</a:t>
            </a:r>
          </a:p>
        </p:txBody>
      </p:sp>
      <p:sp>
        <p:nvSpPr>
          <p:cNvPr id="9" name="script">
            <a:extLst xmlns:a="http://schemas.openxmlformats.org/drawingml/2006/main">
              <a:ext uri="{FF2B5EF4-FFF2-40B4-BE49-F238E27FC236}">
                <a16:creationId xmlns:a16="http://schemas.microsoft.com/office/drawing/2014/main" id="{6BB432DC-1D4D-4E53-BCE4-A7247B04E160}"/>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11827"/>
                </a:solidFill>
                <a:latin typeface="Noto Sans"/>
                <a:ea typeface="Noto Sans"/>
                <a:cs typeface="Noto Sans"/>
              </a:defRPr>
            </a:pPr>
            <a:r>
              <a:rPr sz="1200" b="0">
                <a:solidFill>
                  <a:srgbClr val="111827"/>
                </a:solidFill>
                <a:latin typeface="Noto Sans"/>
                <a:ea typeface="Noto Sans"/>
                <a:cs typeface="Noto Sans"/>
              </a:rPr>
              <a:t>I used reward shaping to help the agent learn before it receives the final sparse success signal. The key point is that the final schema path reward still dominates. The intermediate hop reward only helps exploration, and the rewrite cost discourages unnecessary rewriting. This connects directly to the lectures: reward design can reduce sparsity, but it must avoid reward hacking.</a:t>
            </a:r>
          </a:p>
        </p:txBody>
      </p:sp>
      <p:sp>
        <p:nvSpPr>
          <p:cNvPr id="10" name="footer-left">
            <a:extLst xmlns:a="http://schemas.openxmlformats.org/drawingml/2006/main">
              <a:ext uri="{FF2B5EF4-FFF2-40B4-BE49-F238E27FC236}">
                <a16:creationId xmlns:a16="http://schemas.microsoft.com/office/drawing/2014/main" id="{D3C60126-C383-4B6D-BB15-04821B3BB96B}"/>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4748B"/>
                </a:solidFill>
                <a:latin typeface="Noto Sans"/>
                <a:ea typeface="Noto Sans"/>
                <a:cs typeface="Noto Sans"/>
              </a:defRPr>
            </a:pPr>
            <a:r>
              <a:rPr sz="750" b="0">
                <a:solidFill>
                  <a:srgbClr val="64748B"/>
                </a:solidFill>
                <a:latin typeface="Noto Sans"/>
                <a:ea typeface="Noto Sans"/>
                <a:cs typeface="Noto Sans"/>
              </a:rPr>
              <a:t>Detailed oral defense script</a:t>
            </a:r>
          </a:p>
        </p:txBody>
      </p:sp>
      <p:sp>
        <p:nvSpPr>
          <p:cNvPr id="11" name="footer-number">
            <a:extLst xmlns:a="http://schemas.openxmlformats.org/drawingml/2006/main">
              <a:ext uri="{FF2B5EF4-FFF2-40B4-BE49-F238E27FC236}">
                <a16:creationId xmlns:a16="http://schemas.microsoft.com/office/drawing/2014/main" id="{CD09F2A2-5452-48A0-9985-C0913DAE074D}"/>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4748B"/>
                </a:solidFill>
                <a:latin typeface="Noto Sans"/>
                <a:ea typeface="Noto Sans"/>
                <a:cs typeface="Noto Sans"/>
              </a:defRPr>
            </a:pPr>
            <a:r>
              <a:rPr sz="750" b="0">
                <a:solidFill>
                  <a:srgbClr val="64748B"/>
                </a:solidFill>
                <a:latin typeface="Noto Sans"/>
                <a:ea typeface="Noto Sans"/>
                <a:cs typeface="Noto Sans"/>
              </a:rPr>
              <a:t>13</a:t>
            </a:r>
          </a:p>
        </p:txBody>
      </p:sp>
    </p:spTree>
    <p:extLst>
      <p:ext uri="{BB962C8B-B14F-4D97-AF65-F5344CB8AC3E}">
        <p14:creationId xmlns:p14="http://schemas.microsoft.com/office/powerpoint/2010/main" val="12610652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1BD99D-B872-46AC-91D6-B8B5D96FAA6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Supervised Policy Initialization</a:t>
            </a:r>
          </a:p>
        </p:txBody>
      </p:sp>
      <p:sp>
        <p:nvSpPr>
          <p:cNvPr id="2" name="">
            <a:extLst xmlns:a="http://schemas.openxmlformats.org/drawingml/2006/main">
              <a:ext uri="{FF2B5EF4-FFF2-40B4-BE49-F238E27FC236}">
                <a16:creationId xmlns:a16="http://schemas.microsoft.com/office/drawing/2014/main" id="{9504BCBF-6B79-4642-AE22-BC4DEE12CC14}"/>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Gold actions initialize the actor before RL fine-tuning</a:t>
            </a:r>
          </a:p>
        </p:txBody>
      </p:sp>
      <p:sp>
        <p:nvSpPr>
          <p:cNvPr id="3" name="">
            <a:extLst xmlns:a="http://schemas.openxmlformats.org/drawingml/2006/main">
              <a:ext uri="{FF2B5EF4-FFF2-40B4-BE49-F238E27FC236}">
                <a16:creationId xmlns:a16="http://schemas.microsoft.com/office/drawing/2014/main" id="{1AE88A56-D4BB-4ED9-9B3B-72BFE93F8AE3}"/>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0AADB23-401D-4921-9350-D6054245668E}"/>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Before reinforcement learning, I initialize the policy using gold schema paths from the dataset. This is a supervised policy initialization step. It is useful because the structured action space is large and random exploration is inefficient, especially for 2-hop schema paths.</a:t>
            </a:r>
          </a:p>
        </p:txBody>
      </p:sp>
      <p:sp>
        <p:nvSpPr>
          <p:cNvPr id="5" name="">
            <a:extLst xmlns:a="http://schemas.openxmlformats.org/drawingml/2006/main">
              <a:ext uri="{FF2B5EF4-FFF2-40B4-BE49-F238E27FC236}">
                <a16:creationId xmlns:a16="http://schemas.microsoft.com/office/drawing/2014/main" id="{A18ED625-23A3-46B1-8F31-D33DE4F88C35}"/>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L(θ) = - Σ_t log πθ(a_gold,t | s_t)</a:t>
            </a:r>
          </a:p>
        </p:txBody>
      </p:sp>
      <p:sp>
        <p:nvSpPr>
          <p:cNvPr id="6" name="">
            <a:extLst xmlns:a="http://schemas.openxmlformats.org/drawingml/2006/main">
              <a:ext uri="{FF2B5EF4-FFF2-40B4-BE49-F238E27FC236}">
                <a16:creationId xmlns:a16="http://schemas.microsoft.com/office/drawing/2014/main" id="{414AECA3-6777-498D-B24A-6868D36F13E5}"/>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Output: θ_initial</a:t>
            </a:r>
          </a:p>
        </p:txBody>
      </p:sp>
      <p:sp>
        <p:nvSpPr>
          <p:cNvPr id="7" name="">
            <a:extLst xmlns:a="http://schemas.openxmlformats.org/drawingml/2006/main">
              <a:ext uri="{FF2B5EF4-FFF2-40B4-BE49-F238E27FC236}">
                <a16:creationId xmlns:a16="http://schemas.microsoft.com/office/drawing/2014/main" id="{0F7C8755-81C0-4AB8-8CF0-50F630F40DCB}"/>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185CC93C-DA55-4450-9F5F-8218CEB716C7}"/>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stage should be interpreted as initialization of the actor, not as the final RL algorithm. The final policy is obtained by applying Actor-Critic fine-tuning starting from θ_initial.</a:t>
            </a:r>
          </a:p>
        </p:txBody>
      </p:sp>
      <p:sp>
        <p:nvSpPr>
          <p:cNvPr id="9" name="">
            <a:extLst xmlns:a="http://schemas.openxmlformats.org/drawingml/2006/main">
              <a:ext uri="{FF2B5EF4-FFF2-40B4-BE49-F238E27FC236}">
                <a16:creationId xmlns:a16="http://schemas.microsoft.com/office/drawing/2014/main" id="{19A125C8-1895-466D-976A-86E607E696D5}"/>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4D134249-33BE-4ADF-9138-F9E1EC76815F}"/>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13</a:t>
            </a:r>
          </a:p>
        </p:txBody>
      </p:sp>
    </p:spTree>
    <p:extLst>
      <p:ext uri="{BB962C8B-B14F-4D97-AF65-F5344CB8AC3E}">
        <p14:creationId xmlns:p14="http://schemas.microsoft.com/office/powerpoint/2010/main" val="9754951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31B1CB-F2C0-4E49-B45A-25E371B28D67}"/>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REINFORCE Implementation</a:t>
            </a:r>
          </a:p>
        </p:txBody>
      </p:sp>
      <p:sp>
        <p:nvSpPr>
          <p:cNvPr id="2" name="">
            <a:extLst xmlns:a="http://schemas.openxmlformats.org/drawingml/2006/main">
              <a:ext uri="{FF2B5EF4-FFF2-40B4-BE49-F238E27FC236}">
                <a16:creationId xmlns:a16="http://schemas.microsoft.com/office/drawing/2014/main" id="{7ACE889D-C678-4ABF-B7C4-2DAF5670F742}"/>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Policy-gradient training with a moving baseline</a:t>
            </a:r>
          </a:p>
        </p:txBody>
      </p:sp>
      <p:sp>
        <p:nvSpPr>
          <p:cNvPr id="3" name="">
            <a:extLst xmlns:a="http://schemas.openxmlformats.org/drawingml/2006/main">
              <a:ext uri="{FF2B5EF4-FFF2-40B4-BE49-F238E27FC236}">
                <a16:creationId xmlns:a16="http://schemas.microsoft.com/office/drawing/2014/main" id="{125DE521-8439-4CC8-BD67-7A9C1A5685CC}"/>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38EEF7C-F641-4618-8E75-47BC482BBB77}"/>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code also implements REINFORCE. It samples trajectories in the Gymnasium environment, computes returns and updates the policy using the gradient of the log-probability of the selected actions. A moving baseline is used to reduce variance.</a:t>
            </a:r>
          </a:p>
        </p:txBody>
      </p:sp>
      <p:sp>
        <p:nvSpPr>
          <p:cNvPr id="5" name="">
            <a:extLst xmlns:a="http://schemas.openxmlformats.org/drawingml/2006/main">
              <a:ext uri="{FF2B5EF4-FFF2-40B4-BE49-F238E27FC236}">
                <a16:creationId xmlns:a16="http://schemas.microsoft.com/office/drawing/2014/main" id="{931D4FBB-C557-4DF8-AA62-9B5A67831A2D}"/>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gradient J(θ) = E[Σ_t G_t gradient log πθ(a_t|s_t)]</a:t>
            </a:r>
          </a:p>
        </p:txBody>
      </p:sp>
      <p:sp>
        <p:nvSpPr>
          <p:cNvPr id="6" name="">
            <a:extLst xmlns:a="http://schemas.openxmlformats.org/drawingml/2006/main">
              <a:ext uri="{FF2B5EF4-FFF2-40B4-BE49-F238E27FC236}">
                <a16:creationId xmlns:a16="http://schemas.microsoft.com/office/drawing/2014/main" id="{43BFDB1F-B7C0-4141-A07E-0F365E44AFEA}"/>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A_t = G_t - b</a:t>
            </a:r>
          </a:p>
        </p:txBody>
      </p:sp>
      <p:sp>
        <p:nvSpPr>
          <p:cNvPr id="7" name="">
            <a:extLst xmlns:a="http://schemas.openxmlformats.org/drawingml/2006/main">
              <a:ext uri="{FF2B5EF4-FFF2-40B4-BE49-F238E27FC236}">
                <a16:creationId xmlns:a16="http://schemas.microsoft.com/office/drawing/2014/main" id="{74C880D6-8AF5-4D7D-AA11-6EE618CD63C0}"/>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76A2FA46-9159-4E9F-803D-AC393D01BAFE}"/>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baseline does not change the expected policy-gradient direction. It reduces variance by comparing the return with an average return estimate.</a:t>
            </a:r>
          </a:p>
        </p:txBody>
      </p:sp>
      <p:sp>
        <p:nvSpPr>
          <p:cNvPr id="9" name="">
            <a:extLst xmlns:a="http://schemas.openxmlformats.org/drawingml/2006/main">
              <a:ext uri="{FF2B5EF4-FFF2-40B4-BE49-F238E27FC236}">
                <a16:creationId xmlns:a16="http://schemas.microsoft.com/office/drawing/2014/main" id="{C014731F-D333-4412-A2CE-BBD747214770}"/>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6ED02511-47D5-41B5-99FB-9DC37551B859}"/>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14</a:t>
            </a:r>
          </a:p>
        </p:txBody>
      </p:sp>
    </p:spTree>
    <p:extLst>
      <p:ext uri="{BB962C8B-B14F-4D97-AF65-F5344CB8AC3E}">
        <p14:creationId xmlns:p14="http://schemas.microsoft.com/office/powerpoint/2010/main" val="12451706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452EAD-EBB4-4009-B794-750E0E35195B}"/>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Actor-Critic Fine-Tuning</a:t>
            </a:r>
          </a:p>
        </p:txBody>
      </p:sp>
      <p:sp>
        <p:nvSpPr>
          <p:cNvPr id="2" name="">
            <a:extLst xmlns:a="http://schemas.openxmlformats.org/drawingml/2006/main">
              <a:ext uri="{FF2B5EF4-FFF2-40B4-BE49-F238E27FC236}">
                <a16:creationId xmlns:a16="http://schemas.microsoft.com/office/drawing/2014/main" id="{F0A12263-02B8-4E1E-9040-395040A03FEB}"/>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The final RL training step</a:t>
            </a:r>
          </a:p>
        </p:txBody>
      </p:sp>
      <p:sp>
        <p:nvSpPr>
          <p:cNvPr id="3" name="">
            <a:extLst xmlns:a="http://schemas.openxmlformats.org/drawingml/2006/main">
              <a:ext uri="{FF2B5EF4-FFF2-40B4-BE49-F238E27FC236}">
                <a16:creationId xmlns:a16="http://schemas.microsoft.com/office/drawing/2014/main" id="{ED4255F2-1668-49DC-A482-20B9312932D0}"/>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8DE23645-E56D-4CAE-B3AE-95613199D6DC}"/>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final RL training uses Actor-Critic. The actor is the masked softmax policy. The critic is a linear value function that estimates the expected return from a state. The TD error measures whether the observed transition was better or worse than expected, and this error updates both actor and critic.</a:t>
            </a:r>
          </a:p>
        </p:txBody>
      </p:sp>
      <p:sp>
        <p:nvSpPr>
          <p:cNvPr id="5" name="">
            <a:extLst xmlns:a="http://schemas.openxmlformats.org/drawingml/2006/main">
              <a:ext uri="{FF2B5EF4-FFF2-40B4-BE49-F238E27FC236}">
                <a16:creationId xmlns:a16="http://schemas.microsoft.com/office/drawing/2014/main" id="{2EDD3377-8CDB-4580-A43C-E3B9D8FBA0C2}"/>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V_w(s) = φ(s)^T w</a:t>
            </a:r>
          </a:p>
        </p:txBody>
      </p:sp>
      <p:sp>
        <p:nvSpPr>
          <p:cNvPr id="6" name="">
            <a:extLst xmlns:a="http://schemas.openxmlformats.org/drawingml/2006/main">
              <a:ext uri="{FF2B5EF4-FFF2-40B4-BE49-F238E27FC236}">
                <a16:creationId xmlns:a16="http://schemas.microsoft.com/office/drawing/2014/main" id="{5BBD63A9-EB2C-4FC7-B971-47FF60494FF6}"/>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δ_t = r_(t+1) + γ V_w(s_(t+1)) - V_w(s_t)</a:t>
            </a:r>
          </a:p>
        </p:txBody>
      </p:sp>
      <p:sp>
        <p:nvSpPr>
          <p:cNvPr id="7" name="">
            <a:extLst xmlns:a="http://schemas.openxmlformats.org/drawingml/2006/main">
              <a:ext uri="{FF2B5EF4-FFF2-40B4-BE49-F238E27FC236}">
                <a16:creationId xmlns:a16="http://schemas.microsoft.com/office/drawing/2014/main" id="{87C795CA-82C8-4802-B4BD-238F7387AC6B}"/>
              </a:ext>
            </a:extLst>
          </p:cNvPr>
          <p:cNvSpPr>
            <a:spLocks xmlns:a="http://schemas.openxmlformats.org/drawingml/2006/main" noGrp="1"/>
          </p:cNvSpPr>
          <p:nvPr/>
        </p:nvSpPr>
        <p:spPr>
          <a:xfrm xmlns:a="http://schemas.openxmlformats.org/drawingml/2006/main">
            <a:off x="685800" y="35242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θ &lt;- θ + α_actor δ_t gradient log πθ(a_t|s_t)</a:t>
            </a:r>
          </a:p>
        </p:txBody>
      </p:sp>
      <p:sp>
        <p:nvSpPr>
          <p:cNvPr id="8" name="">
            <a:extLst xmlns:a="http://schemas.openxmlformats.org/drawingml/2006/main">
              <a:ext uri="{FF2B5EF4-FFF2-40B4-BE49-F238E27FC236}">
                <a16:creationId xmlns:a16="http://schemas.microsoft.com/office/drawing/2014/main" id="{2C89A8A5-928E-4A69-966C-1218227F4809}"/>
              </a:ext>
            </a:extLst>
          </p:cNvPr>
          <p:cNvSpPr>
            <a:spLocks xmlns:a="http://schemas.openxmlformats.org/drawingml/2006/main" noGrp="1"/>
          </p:cNvSpPr>
          <p:nvPr/>
        </p:nvSpPr>
        <p:spPr>
          <a:xfrm xmlns:a="http://schemas.openxmlformats.org/drawingml/2006/main">
            <a:off x="685800" y="39433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w &lt;- w + α_critic δ_t φ(s_t)</a:t>
            </a:r>
          </a:p>
        </p:txBody>
      </p:sp>
      <p:sp>
        <p:nvSpPr>
          <p:cNvPr id="9" name="">
            <a:extLst xmlns:a="http://schemas.openxmlformats.org/drawingml/2006/main">
              <a:ext uri="{FF2B5EF4-FFF2-40B4-BE49-F238E27FC236}">
                <a16:creationId xmlns:a16="http://schemas.microsoft.com/office/drawing/2014/main" id="{C46F6FE8-3DE8-4064-BE02-8E3BF9CA28B5}"/>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10" name="">
            <a:extLst xmlns:a="http://schemas.openxmlformats.org/drawingml/2006/main">
              <a:ext uri="{FF2B5EF4-FFF2-40B4-BE49-F238E27FC236}">
                <a16:creationId xmlns:a16="http://schemas.microsoft.com/office/drawing/2014/main" id="{E335D1CE-1C3D-4FB6-AEE1-120085FC8A4C}"/>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is the main RL step I use in the final pipeline. The actor starts from the supervised initialization, then Actor-Critic updates the policy using rewards from the environment.</a:t>
            </a:r>
          </a:p>
        </p:txBody>
      </p:sp>
      <p:sp>
        <p:nvSpPr>
          <p:cNvPr id="11" name="">
            <a:extLst xmlns:a="http://schemas.openxmlformats.org/drawingml/2006/main">
              <a:ext uri="{FF2B5EF4-FFF2-40B4-BE49-F238E27FC236}">
                <a16:creationId xmlns:a16="http://schemas.microsoft.com/office/drawing/2014/main" id="{260A9F5B-628F-41A9-B516-B18A288F3C9B}"/>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2" name="">
            <a:extLst xmlns:a="http://schemas.openxmlformats.org/drawingml/2006/main">
              <a:ext uri="{FF2B5EF4-FFF2-40B4-BE49-F238E27FC236}">
                <a16:creationId xmlns:a16="http://schemas.microsoft.com/office/drawing/2014/main" id="{894D7DD0-2417-4506-9564-289121F6E6A5}"/>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15</a:t>
            </a:r>
          </a:p>
        </p:txBody>
      </p:sp>
    </p:spTree>
    <p:extLst>
      <p:ext uri="{BB962C8B-B14F-4D97-AF65-F5344CB8AC3E}">
        <p14:creationId xmlns:p14="http://schemas.microsoft.com/office/powerpoint/2010/main" val="16497377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76C8B4-C895-47CC-96E2-3607F63B8F0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Final Training Pipeline</a:t>
            </a:r>
          </a:p>
        </p:txBody>
      </p:sp>
      <p:sp>
        <p:nvSpPr>
          <p:cNvPr id="2" name="">
            <a:extLst xmlns:a="http://schemas.openxmlformats.org/drawingml/2006/main">
              <a:ext uri="{FF2B5EF4-FFF2-40B4-BE49-F238E27FC236}">
                <a16:creationId xmlns:a16="http://schemas.microsoft.com/office/drawing/2014/main" id="{96A63EDB-F5AC-4F69-BA9E-F78C76E762CB}"/>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What the final notebook executes</a:t>
            </a:r>
          </a:p>
        </p:txBody>
      </p:sp>
      <p:sp>
        <p:nvSpPr>
          <p:cNvPr id="3" name="">
            <a:extLst xmlns:a="http://schemas.openxmlformats.org/drawingml/2006/main">
              <a:ext uri="{FF2B5EF4-FFF2-40B4-BE49-F238E27FC236}">
                <a16:creationId xmlns:a16="http://schemas.microsoft.com/office/drawing/2014/main" id="{C3526CF3-90C7-4C5D-B764-2D3FCF4F9DDA}"/>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3B5D9CD7-CADF-4EAD-92B2-7DE58EF09BE1}"/>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final pipeline first builds the dataset and cached Qwen rewrites. It then constructs the hierarchical Gymnasium environment. The policy is initialized from gold schema actions, and then Actor-Critic fine-tunes the policy for 3000 episodes using the environment reward. The final evaluation uses the fine-tuned policy.</a:t>
            </a:r>
          </a:p>
        </p:txBody>
      </p:sp>
      <p:sp>
        <p:nvSpPr>
          <p:cNvPr id="5" name="">
            <a:extLst xmlns:a="http://schemas.openxmlformats.org/drawingml/2006/main">
              <a:ext uri="{FF2B5EF4-FFF2-40B4-BE49-F238E27FC236}">
                <a16:creationId xmlns:a16="http://schemas.microsoft.com/office/drawing/2014/main" id="{A912FDFF-24C7-4DC8-AEDC-D623BF7D094B}"/>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dataset -&gt; environment -&gt; θ_initial -&gt; Actor-Critic -&gt; θ_final_rl -&gt; evaluation</a:t>
            </a:r>
          </a:p>
        </p:txBody>
      </p:sp>
      <p:sp>
        <p:nvSpPr>
          <p:cNvPr id="6" name="">
            <a:extLst xmlns:a="http://schemas.openxmlformats.org/drawingml/2006/main">
              <a:ext uri="{FF2B5EF4-FFF2-40B4-BE49-F238E27FC236}">
                <a16:creationId xmlns:a16="http://schemas.microsoft.com/office/drawing/2014/main" id="{56089667-3618-4F87-AB9F-64CB6A721811}"/>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A5B8B2FD-0483-4E6D-BC5D-0001C15312B3}"/>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important technical point is that the evaluated policy is θ_final_rl, not only the supervised initialization. θ_final_rl is obtained after Actor-Critic training.</a:t>
            </a:r>
          </a:p>
        </p:txBody>
      </p:sp>
      <p:sp>
        <p:nvSpPr>
          <p:cNvPr id="8" name="">
            <a:extLst xmlns:a="http://schemas.openxmlformats.org/drawingml/2006/main">
              <a:ext uri="{FF2B5EF4-FFF2-40B4-BE49-F238E27FC236}">
                <a16:creationId xmlns:a16="http://schemas.microsoft.com/office/drawing/2014/main" id="{8222F148-28D4-46C2-8DEB-324969F69DF5}"/>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51E94BEB-56D9-422D-ABA7-77F6390D569D}"/>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16</a:t>
            </a:r>
          </a:p>
        </p:txBody>
      </p:sp>
    </p:spTree>
    <p:extLst>
      <p:ext uri="{BB962C8B-B14F-4D97-AF65-F5344CB8AC3E}">
        <p14:creationId xmlns:p14="http://schemas.microsoft.com/office/powerpoint/2010/main" val="172798778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0CC939-8AB2-44A8-9C01-9BC258A21C9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Evaluation Setup</a:t>
            </a:r>
          </a:p>
        </p:txBody>
      </p:sp>
      <p:sp>
        <p:nvSpPr>
          <p:cNvPr id="2" name="">
            <a:extLst xmlns:a="http://schemas.openxmlformats.org/drawingml/2006/main">
              <a:ext uri="{FF2B5EF4-FFF2-40B4-BE49-F238E27FC236}">
                <a16:creationId xmlns:a16="http://schemas.microsoft.com/office/drawing/2014/main" id="{4AC5CF33-9509-4FF8-9A0A-EA126982E7B5}"/>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Training on original questions, testing on paraphrased questions</a:t>
            </a:r>
          </a:p>
        </p:txBody>
      </p:sp>
      <p:sp>
        <p:nvSpPr>
          <p:cNvPr id="3" name="">
            <a:extLst xmlns:a="http://schemas.openxmlformats.org/drawingml/2006/main">
              <a:ext uri="{FF2B5EF4-FFF2-40B4-BE49-F238E27FC236}">
                <a16:creationId xmlns:a16="http://schemas.microsoft.com/office/drawing/2014/main" id="{91E691A8-860D-4451-8380-949B4A185ED4}"/>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A14DBC1-FC28-4981-AF96-F73102F532EC}"/>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Training uses original-style questions. Evaluation uses paraphrased Qwen test examples. This setup directly tests robustness to linguistic variation. The evaluation runs greedy rollouts in the environment: at each phase, the policy selects the valid action with highest probability.</a:t>
            </a:r>
          </a:p>
        </p:txBody>
      </p:sp>
      <p:sp>
        <p:nvSpPr>
          <p:cNvPr id="5" name="">
            <a:extLst xmlns:a="http://schemas.openxmlformats.org/drawingml/2006/main">
              <a:ext uri="{FF2B5EF4-FFF2-40B4-BE49-F238E27FC236}">
                <a16:creationId xmlns:a16="http://schemas.microsoft.com/office/drawing/2014/main" id="{35EFC03E-2AE4-4B74-A060-BAB87BFE12B3}"/>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Evaluation action: a_t = argmax_a πθ(a|s_t)</a:t>
            </a:r>
          </a:p>
        </p:txBody>
      </p:sp>
      <p:sp>
        <p:nvSpPr>
          <p:cNvPr id="6" name="">
            <a:extLst xmlns:a="http://schemas.openxmlformats.org/drawingml/2006/main">
              <a:ext uri="{FF2B5EF4-FFF2-40B4-BE49-F238E27FC236}">
                <a16:creationId xmlns:a16="http://schemas.microsoft.com/office/drawing/2014/main" id="{D461CFF0-F021-4929-BC0B-DA96FAD53027}"/>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35EDE9BE-4BE5-48A9-AA54-C53394466391}"/>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evaluation is stricter than testing on the same style seen during training. It checks whether the learned policy can handle paraphrased biomedical questions.</a:t>
            </a:r>
          </a:p>
        </p:txBody>
      </p:sp>
      <p:sp>
        <p:nvSpPr>
          <p:cNvPr id="8" name="">
            <a:extLst xmlns:a="http://schemas.openxmlformats.org/drawingml/2006/main">
              <a:ext uri="{FF2B5EF4-FFF2-40B4-BE49-F238E27FC236}">
                <a16:creationId xmlns:a16="http://schemas.microsoft.com/office/drawing/2014/main" id="{C8E83AF0-043A-4936-AF6C-76EA4302A849}"/>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D12D8408-AF97-4147-8CE5-1C55D0C6EDDB}"/>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17</a:t>
            </a:r>
          </a:p>
        </p:txBody>
      </p:sp>
    </p:spTree>
    <p:extLst>
      <p:ext uri="{BB962C8B-B14F-4D97-AF65-F5344CB8AC3E}">
        <p14:creationId xmlns:p14="http://schemas.microsoft.com/office/powerpoint/2010/main" val="2318083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56CD31-7C59-4C2F-80AB-70179696F589}"/>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Final Results</a:t>
            </a:r>
          </a:p>
        </p:txBody>
      </p:sp>
      <p:sp>
        <p:nvSpPr>
          <p:cNvPr id="2" name="">
            <a:extLst xmlns:a="http://schemas.openxmlformats.org/drawingml/2006/main">
              <a:ext uri="{FF2B5EF4-FFF2-40B4-BE49-F238E27FC236}">
                <a16:creationId xmlns:a16="http://schemas.microsoft.com/office/drawing/2014/main" id="{A4B5536C-6548-4A8F-B955-6D23E53D2C37}"/>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Actor-Critic fine-tuned policy on paraphrased Qwen subset</a:t>
            </a:r>
          </a:p>
        </p:txBody>
      </p:sp>
      <p:sp>
        <p:nvSpPr>
          <p:cNvPr id="3" name="">
            <a:extLst xmlns:a="http://schemas.openxmlformats.org/drawingml/2006/main">
              <a:ext uri="{FF2B5EF4-FFF2-40B4-BE49-F238E27FC236}">
                <a16:creationId xmlns:a16="http://schemas.microsoft.com/office/drawing/2014/main" id="{586F0F62-F9A7-48F0-A060-BF5347A18F6E}"/>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B9EF3F66-F4BE-4883-8211-071F66C6AC3A}"/>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Actor-Critic fine-tuned policy reaches an overall exact match of 0.475 and an overall F1 of 0.644. On 1-hop examples, exact match is 0.80 and F1 is 0.867. On 2-hop examples, exact match is 0.367 and F1 is 0.569.</a:t>
            </a:r>
          </a:p>
        </p:txBody>
      </p:sp>
      <p:sp>
        <p:nvSpPr>
          <p:cNvPr id="5" name="">
            <a:extLst xmlns:a="http://schemas.openxmlformats.org/drawingml/2006/main">
              <a:ext uri="{FF2B5EF4-FFF2-40B4-BE49-F238E27FC236}">
                <a16:creationId xmlns:a16="http://schemas.microsoft.com/office/drawing/2014/main" id="{CA461541-E356-4C9D-8B7C-35F1374F40FA}"/>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Overall exact = 0.475</a:t>
            </a:r>
          </a:p>
        </p:txBody>
      </p:sp>
      <p:sp>
        <p:nvSpPr>
          <p:cNvPr id="6" name="">
            <a:extLst xmlns:a="http://schemas.openxmlformats.org/drawingml/2006/main">
              <a:ext uri="{FF2B5EF4-FFF2-40B4-BE49-F238E27FC236}">
                <a16:creationId xmlns:a16="http://schemas.microsoft.com/office/drawing/2014/main" id="{FD96FB41-44B6-4D98-80D1-C6BF12A7B3B8}"/>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Overall F1 = 0.644</a:t>
            </a:r>
          </a:p>
        </p:txBody>
      </p:sp>
      <p:sp>
        <p:nvSpPr>
          <p:cNvPr id="7" name="">
            <a:extLst xmlns:a="http://schemas.openxmlformats.org/drawingml/2006/main">
              <a:ext uri="{FF2B5EF4-FFF2-40B4-BE49-F238E27FC236}">
                <a16:creationId xmlns:a16="http://schemas.microsoft.com/office/drawing/2014/main" id="{DD2FDF70-9286-4A51-8FFF-154EA62C8E93}"/>
              </a:ext>
            </a:extLst>
          </p:cNvPr>
          <p:cNvSpPr>
            <a:spLocks xmlns:a="http://schemas.openxmlformats.org/drawingml/2006/main" noGrp="1"/>
          </p:cNvSpPr>
          <p:nvPr/>
        </p:nvSpPr>
        <p:spPr>
          <a:xfrm xmlns:a="http://schemas.openxmlformats.org/drawingml/2006/main">
            <a:off x="685800" y="35242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1-hop exact = 0.80</a:t>
            </a:r>
          </a:p>
        </p:txBody>
      </p:sp>
      <p:sp>
        <p:nvSpPr>
          <p:cNvPr id="8" name="">
            <a:extLst xmlns:a="http://schemas.openxmlformats.org/drawingml/2006/main">
              <a:ext uri="{FF2B5EF4-FFF2-40B4-BE49-F238E27FC236}">
                <a16:creationId xmlns:a16="http://schemas.microsoft.com/office/drawing/2014/main" id="{01826D04-97E7-4DFA-850F-B27864F8DD04}"/>
              </a:ext>
            </a:extLst>
          </p:cNvPr>
          <p:cNvSpPr>
            <a:spLocks xmlns:a="http://schemas.openxmlformats.org/drawingml/2006/main" noGrp="1"/>
          </p:cNvSpPr>
          <p:nvPr/>
        </p:nvSpPr>
        <p:spPr>
          <a:xfrm xmlns:a="http://schemas.openxmlformats.org/drawingml/2006/main">
            <a:off x="685800" y="39433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2-hop exact = 0.367</a:t>
            </a:r>
          </a:p>
        </p:txBody>
      </p:sp>
      <p:sp>
        <p:nvSpPr>
          <p:cNvPr id="9" name="">
            <a:extLst xmlns:a="http://schemas.openxmlformats.org/drawingml/2006/main">
              <a:ext uri="{FF2B5EF4-FFF2-40B4-BE49-F238E27FC236}">
                <a16:creationId xmlns:a16="http://schemas.microsoft.com/office/drawing/2014/main" id="{4AFF1400-3459-4FA3-92FB-DE7135A9F94E}"/>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10" name="">
            <a:extLst xmlns:a="http://schemas.openxmlformats.org/drawingml/2006/main">
              <a:ext uri="{FF2B5EF4-FFF2-40B4-BE49-F238E27FC236}">
                <a16:creationId xmlns:a16="http://schemas.microsoft.com/office/drawing/2014/main" id="{B6AC578E-21F8-4936-8580-5754797B8FC3}"/>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 1-hop result shows that the system can select simple schema paths reliably. The 2-hop result is lower because the full sequence of two relations must be correct.</a:t>
            </a:r>
          </a:p>
        </p:txBody>
      </p:sp>
      <p:sp>
        <p:nvSpPr>
          <p:cNvPr id="11" name="">
            <a:extLst xmlns:a="http://schemas.openxmlformats.org/drawingml/2006/main">
              <a:ext uri="{FF2B5EF4-FFF2-40B4-BE49-F238E27FC236}">
                <a16:creationId xmlns:a16="http://schemas.microsoft.com/office/drawing/2014/main" id="{6E2B2E64-7849-4109-8CFE-0EF6D219303E}"/>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2" name="">
            <a:extLst xmlns:a="http://schemas.openxmlformats.org/drawingml/2006/main">
              <a:ext uri="{FF2B5EF4-FFF2-40B4-BE49-F238E27FC236}">
                <a16:creationId xmlns:a16="http://schemas.microsoft.com/office/drawing/2014/main" id="{728B2621-C553-4ABB-BF5E-051BCB6C6EC5}"/>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18</a:t>
            </a:r>
          </a:p>
        </p:txBody>
      </p:sp>
    </p:spTree>
    <p:extLst>
      <p:ext uri="{BB962C8B-B14F-4D97-AF65-F5344CB8AC3E}">
        <p14:creationId xmlns:p14="http://schemas.microsoft.com/office/powerpoint/2010/main" val="6471205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B6F828-579B-4B62-AB96-A943435AA741}"/>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Why 2-Hop Is Harder</a:t>
            </a:r>
          </a:p>
        </p:txBody>
      </p:sp>
      <p:sp>
        <p:nvSpPr>
          <p:cNvPr id="2" name="">
            <a:extLst xmlns:a="http://schemas.openxmlformats.org/drawingml/2006/main">
              <a:ext uri="{FF2B5EF4-FFF2-40B4-BE49-F238E27FC236}">
                <a16:creationId xmlns:a16="http://schemas.microsoft.com/office/drawing/2014/main" id="{B0F1A965-3C2F-40BC-AF9C-7C84EB150EA0}"/>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The action space and metric become more demanding</a:t>
            </a:r>
          </a:p>
        </p:txBody>
      </p:sp>
      <p:sp>
        <p:nvSpPr>
          <p:cNvPr id="3" name="">
            <a:extLst xmlns:a="http://schemas.openxmlformats.org/drawingml/2006/main">
              <a:ext uri="{FF2B5EF4-FFF2-40B4-BE49-F238E27FC236}">
                <a16:creationId xmlns:a16="http://schemas.microsoft.com/office/drawing/2014/main" id="{53B6AE4A-2AA1-4315-BD79-356FAE094EB4}"/>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EAC713B-5F0E-43FB-980D-B2E386431832}"/>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A 1-hop question requires one relation. A 2-hop question requires a sequence of two relations. If one of the two relations is wrong, exact match becomes zero. Some relations are also semantically close, such as different Gene PARTICIPATES relations, or different Compound-Disease-Gene patterns.</a:t>
            </a:r>
          </a:p>
        </p:txBody>
      </p:sp>
      <p:sp>
        <p:nvSpPr>
          <p:cNvPr id="5" name="">
            <a:extLst xmlns:a="http://schemas.openxmlformats.org/drawingml/2006/main">
              <a:ext uri="{FF2B5EF4-FFF2-40B4-BE49-F238E27FC236}">
                <a16:creationId xmlns:a16="http://schemas.microsoft.com/office/drawing/2014/main" id="{494EF94D-C08B-47B9-A6D8-E0569D32F200}"/>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Gold: [8, 13]</a:t>
            </a:r>
          </a:p>
        </p:txBody>
      </p:sp>
      <p:sp>
        <p:nvSpPr>
          <p:cNvPr id="6" name="">
            <a:extLst xmlns:a="http://schemas.openxmlformats.org/drawingml/2006/main">
              <a:ext uri="{FF2B5EF4-FFF2-40B4-BE49-F238E27FC236}">
                <a16:creationId xmlns:a16="http://schemas.microsoft.com/office/drawing/2014/main" id="{4E012DD8-867B-4525-8FAA-8D9F2B9A5ABC}"/>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Prediction: [8] gives partial F1 but exact match = 0</a:t>
            </a:r>
          </a:p>
        </p:txBody>
      </p:sp>
      <p:sp>
        <p:nvSpPr>
          <p:cNvPr id="7" name="">
            <a:extLst xmlns:a="http://schemas.openxmlformats.org/drawingml/2006/main">
              <a:ext uri="{FF2B5EF4-FFF2-40B4-BE49-F238E27FC236}">
                <a16:creationId xmlns:a16="http://schemas.microsoft.com/office/drawing/2014/main" id="{6DA77827-F8D1-4A27-87A5-CB77CC8646B3}"/>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F4FDB279-9954-4AEE-9C8E-2A98E94305E9}"/>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explains why I report F1 together with exact match. F1 shows whether the policy recovered part of the correct schema even when exact match is not achieved.</a:t>
            </a:r>
          </a:p>
        </p:txBody>
      </p:sp>
      <p:sp>
        <p:nvSpPr>
          <p:cNvPr id="9" name="">
            <a:extLst xmlns:a="http://schemas.openxmlformats.org/drawingml/2006/main">
              <a:ext uri="{FF2B5EF4-FFF2-40B4-BE49-F238E27FC236}">
                <a16:creationId xmlns:a16="http://schemas.microsoft.com/office/drawing/2014/main" id="{D46A9CF0-AE81-4C2E-9C95-0EEDF8BC89F2}"/>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97B51770-9D28-4587-8203-05AACFBFAA30}"/>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19</a:t>
            </a:r>
          </a:p>
        </p:txBody>
      </p:sp>
    </p:spTree>
    <p:extLst>
      <p:ext uri="{BB962C8B-B14F-4D97-AF65-F5344CB8AC3E}">
        <p14:creationId xmlns:p14="http://schemas.microsoft.com/office/powerpoint/2010/main" val="15102059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7623AA-9AE5-4A0B-B5B7-AB6C1A827DBC}"/>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RL From Scratch Experiment</a:t>
            </a:r>
          </a:p>
        </p:txBody>
      </p:sp>
      <p:sp>
        <p:nvSpPr>
          <p:cNvPr id="2" name="">
            <a:extLst xmlns:a="http://schemas.openxmlformats.org/drawingml/2006/main">
              <a:ext uri="{FF2B5EF4-FFF2-40B4-BE49-F238E27FC236}">
                <a16:creationId xmlns:a16="http://schemas.microsoft.com/office/drawing/2014/main" id="{D4B48A87-F99F-46C5-8722-18EF38099058}"/>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Why supervised initialization is useful</a:t>
            </a:r>
          </a:p>
        </p:txBody>
      </p:sp>
      <p:sp>
        <p:nvSpPr>
          <p:cNvPr id="3" name="">
            <a:extLst xmlns:a="http://schemas.openxmlformats.org/drawingml/2006/main">
              <a:ext uri="{FF2B5EF4-FFF2-40B4-BE49-F238E27FC236}">
                <a16:creationId xmlns:a16="http://schemas.microsoft.com/office/drawing/2014/main" id="{412F84EA-1C89-4E43-8BD5-8FF29EB11232}"/>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2849516A-CD97-431B-B0CF-E487FCD28287}"/>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I also tested Actor-Critic from random initialization. From scratch, the policy obtained around 0.15 exact match and 0.392 F1. It often collapsed to predicting 1-hop, even when the gold question was 2-hop. This shows that exploration is difficult in the structured action space.</a:t>
            </a:r>
          </a:p>
        </p:txBody>
      </p:sp>
      <p:sp>
        <p:nvSpPr>
          <p:cNvPr id="5" name="">
            <a:extLst xmlns:a="http://schemas.openxmlformats.org/drawingml/2006/main">
              <a:ext uri="{FF2B5EF4-FFF2-40B4-BE49-F238E27FC236}">
                <a16:creationId xmlns:a16="http://schemas.microsoft.com/office/drawing/2014/main" id="{4D889F9A-BF8F-4050-A798-B041415D7611}"/>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Actor-Critic from scratch: exact = 0.15, F1 = 0.392</a:t>
            </a:r>
          </a:p>
        </p:txBody>
      </p:sp>
      <p:sp>
        <p:nvSpPr>
          <p:cNvPr id="6" name="">
            <a:extLst xmlns:a="http://schemas.openxmlformats.org/drawingml/2006/main">
              <a:ext uri="{FF2B5EF4-FFF2-40B4-BE49-F238E27FC236}">
                <a16:creationId xmlns:a16="http://schemas.microsoft.com/office/drawing/2014/main" id="{834FCFE4-8065-4A33-BA66-E22F0AEB512E}"/>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FB669068-4B03-4805-8A08-30F7B1DD6E78}"/>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This experiment justifies the initialization step. The supervised initialization gives the actor a reasonable starting point, and Actor-Critic can then refine it using rewards.</a:t>
            </a:r>
          </a:p>
        </p:txBody>
      </p:sp>
      <p:sp>
        <p:nvSpPr>
          <p:cNvPr id="8" name="">
            <a:extLst xmlns:a="http://schemas.openxmlformats.org/drawingml/2006/main">
              <a:ext uri="{FF2B5EF4-FFF2-40B4-BE49-F238E27FC236}">
                <a16:creationId xmlns:a16="http://schemas.microsoft.com/office/drawing/2014/main" id="{87F13EA7-8891-43C0-B581-A304AD8DF74E}"/>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093549B0-1B44-43E6-AC28-C7A2DC71B119}"/>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20</a:t>
            </a:r>
          </a:p>
        </p:txBody>
      </p:sp>
    </p:spTree>
    <p:extLst>
      <p:ext uri="{BB962C8B-B14F-4D97-AF65-F5344CB8AC3E}">
        <p14:creationId xmlns:p14="http://schemas.microsoft.com/office/powerpoint/2010/main" val="126352907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FC269B-7F73-478B-B85C-571CC95E3622}"/>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Main Limitations</a:t>
            </a:r>
          </a:p>
        </p:txBody>
      </p:sp>
      <p:sp>
        <p:nvSpPr>
          <p:cNvPr id="2" name="">
            <a:extLst xmlns:a="http://schemas.openxmlformats.org/drawingml/2006/main">
              <a:ext uri="{FF2B5EF4-FFF2-40B4-BE49-F238E27FC236}">
                <a16:creationId xmlns:a16="http://schemas.microsoft.com/office/drawing/2014/main" id="{8FEB3FCB-09B3-49C3-B393-66EA72A31B17}"/>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What the current project does not solve yet</a:t>
            </a:r>
          </a:p>
        </p:txBody>
      </p:sp>
      <p:sp>
        <p:nvSpPr>
          <p:cNvPr id="3" name="">
            <a:extLst xmlns:a="http://schemas.openxmlformats.org/drawingml/2006/main">
              <a:ext uri="{FF2B5EF4-FFF2-40B4-BE49-F238E27FC236}">
                <a16:creationId xmlns:a16="http://schemas.microsoft.com/office/drawing/2014/main" id="{97C6577A-D663-41FD-B973-85917ABED768}"/>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724CC0A3-DBBE-4AA4-AA7B-E8491197991A}"/>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project does not generate full Cypher queries token by token. It also does not use direct Neo4j execution reward. The Qwen rewriter is used through prompting, not fine-tuned on the dataset. Finally, the most difficult 3-hop questions are left as future work.</a:t>
            </a:r>
          </a:p>
        </p:txBody>
      </p:sp>
      <p:sp>
        <p:nvSpPr>
          <p:cNvPr id="5" name="">
            <a:extLst xmlns:a="http://schemas.openxmlformats.org/drawingml/2006/main">
              <a:ext uri="{FF2B5EF4-FFF2-40B4-BE49-F238E27FC236}">
                <a16:creationId xmlns:a16="http://schemas.microsoft.com/office/drawing/2014/main" id="{112576AD-71A1-4A2F-A53F-C4EFEC2ED346}"/>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Current scope: schema path selection</a:t>
            </a:r>
          </a:p>
        </p:txBody>
      </p:sp>
      <p:sp>
        <p:nvSpPr>
          <p:cNvPr id="6" name="">
            <a:extLst xmlns:a="http://schemas.openxmlformats.org/drawingml/2006/main">
              <a:ext uri="{FF2B5EF4-FFF2-40B4-BE49-F238E27FC236}">
                <a16:creationId xmlns:a16="http://schemas.microsoft.com/office/drawing/2014/main" id="{9DB0670B-0CB2-4F23-AFB4-8A9024085990}"/>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Future scope: execution-aware Text-to-Cypher</a:t>
            </a:r>
          </a:p>
        </p:txBody>
      </p:sp>
      <p:sp>
        <p:nvSpPr>
          <p:cNvPr id="7" name="">
            <a:extLst xmlns:a="http://schemas.openxmlformats.org/drawingml/2006/main">
              <a:ext uri="{FF2B5EF4-FFF2-40B4-BE49-F238E27FC236}">
                <a16:creationId xmlns:a16="http://schemas.microsoft.com/office/drawing/2014/main" id="{06F52AD0-4173-4111-ABA6-F9F41C7C9F99}"/>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8" name="">
            <a:extLst xmlns:a="http://schemas.openxmlformats.org/drawingml/2006/main">
              <a:ext uri="{FF2B5EF4-FFF2-40B4-BE49-F238E27FC236}">
                <a16:creationId xmlns:a16="http://schemas.microsoft.com/office/drawing/2014/main" id="{93D3A4B3-AC03-47D3-99D1-6CCF1B1BF67D}"/>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These limits are deliberate. I focused on a controllable RL formulation that could be implemented, trained and analyzed within the exam project.</a:t>
            </a:r>
          </a:p>
        </p:txBody>
      </p:sp>
      <p:sp>
        <p:nvSpPr>
          <p:cNvPr id="9" name="">
            <a:extLst xmlns:a="http://schemas.openxmlformats.org/drawingml/2006/main">
              <a:ext uri="{FF2B5EF4-FFF2-40B4-BE49-F238E27FC236}">
                <a16:creationId xmlns:a16="http://schemas.microsoft.com/office/drawing/2014/main" id="{3DE75964-2407-48DB-9E0F-58EF5CFF8635}"/>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0" name="">
            <a:extLst xmlns:a="http://schemas.openxmlformats.org/drawingml/2006/main">
              <a:ext uri="{FF2B5EF4-FFF2-40B4-BE49-F238E27FC236}">
                <a16:creationId xmlns:a16="http://schemas.microsoft.com/office/drawing/2014/main" id="{355035A3-187C-41A8-AEDB-879ECE360B9F}"/>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21</a:t>
            </a:r>
          </a:p>
        </p:txBody>
      </p:sp>
    </p:spTree>
    <p:extLst>
      <p:ext uri="{BB962C8B-B14F-4D97-AF65-F5344CB8AC3E}">
        <p14:creationId xmlns:p14="http://schemas.microsoft.com/office/powerpoint/2010/main" val="5240678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E3E4B8-EDA7-4300-AAAB-DC9B1C24D821}"/>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Implementation Map</a:t>
            </a:r>
          </a:p>
        </p:txBody>
      </p:sp>
      <p:sp>
        <p:nvSpPr>
          <p:cNvPr id="2" name="">
            <a:extLst xmlns:a="http://schemas.openxmlformats.org/drawingml/2006/main">
              <a:ext uri="{FF2B5EF4-FFF2-40B4-BE49-F238E27FC236}">
                <a16:creationId xmlns:a16="http://schemas.microsoft.com/office/drawing/2014/main" id="{AAB0A670-52BC-4D3A-B9DF-C6EE2EAE7FB2}"/>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Main code elements to explain during the defense</a:t>
            </a:r>
          </a:p>
        </p:txBody>
      </p:sp>
      <p:sp>
        <p:nvSpPr>
          <p:cNvPr id="3" name="">
            <a:extLst xmlns:a="http://schemas.openxmlformats.org/drawingml/2006/main">
              <a:ext uri="{FF2B5EF4-FFF2-40B4-BE49-F238E27FC236}">
                <a16:creationId xmlns:a16="http://schemas.microsoft.com/office/drawing/2014/main" id="{1A46761F-C1F1-42B5-87A9-610C2ECEB582}"/>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27C2237E-586B-441D-9085-EA20B20500DA}"/>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Python file contains the full project logic. The most important elements are the Gymnasium environment, the masked policy, the supervised policy initialization, the Actor-Critic training function and the evaluation rollout used in the notebook.</a:t>
            </a:r>
          </a:p>
        </p:txBody>
      </p:sp>
      <p:sp>
        <p:nvSpPr>
          <p:cNvPr id="5" name="">
            <a:extLst xmlns:a="http://schemas.openxmlformats.org/drawingml/2006/main">
              <a:ext uri="{FF2B5EF4-FFF2-40B4-BE49-F238E27FC236}">
                <a16:creationId xmlns:a16="http://schemas.microsoft.com/office/drawing/2014/main" id="{238F3109-B0A7-42AF-8D8D-4676BBC57172}"/>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HierarchicalSchemaPathEnv: Gymnasium environment</a:t>
            </a:r>
          </a:p>
        </p:txBody>
      </p:sp>
      <p:sp>
        <p:nvSpPr>
          <p:cNvPr id="6" name="">
            <a:extLst xmlns:a="http://schemas.openxmlformats.org/drawingml/2006/main">
              <a:ext uri="{FF2B5EF4-FFF2-40B4-BE49-F238E27FC236}">
                <a16:creationId xmlns:a16="http://schemas.microsoft.com/office/drawing/2014/main" id="{9399F40F-CBEF-41BD-A29C-9ECB1606A6A1}"/>
              </a:ext>
            </a:extLst>
          </p:cNvPr>
          <p:cNvSpPr>
            <a:spLocks xmlns:a="http://schemas.openxmlformats.org/drawingml/2006/main" noGrp="1"/>
          </p:cNvSpPr>
          <p:nvPr/>
        </p:nvSpPr>
        <p:spPr>
          <a:xfrm xmlns:a="http://schemas.openxmlformats.org/drawingml/2006/main">
            <a:off x="685800" y="31051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masked_policy_probs: masked softmax policy</a:t>
            </a:r>
          </a:p>
        </p:txBody>
      </p:sp>
      <p:sp>
        <p:nvSpPr>
          <p:cNvPr id="7" name="">
            <a:extLst xmlns:a="http://schemas.openxmlformats.org/drawingml/2006/main">
              <a:ext uri="{FF2B5EF4-FFF2-40B4-BE49-F238E27FC236}">
                <a16:creationId xmlns:a16="http://schemas.microsoft.com/office/drawing/2014/main" id="{641F1ED5-C5F4-4884-8D4C-7669C045340B}"/>
              </a:ext>
            </a:extLst>
          </p:cNvPr>
          <p:cNvSpPr>
            <a:spLocks xmlns:a="http://schemas.openxmlformats.org/drawingml/2006/main" noGrp="1"/>
          </p:cNvSpPr>
          <p:nvPr/>
        </p:nvSpPr>
        <p:spPr>
          <a:xfrm xmlns:a="http://schemas.openxmlformats.org/drawingml/2006/main">
            <a:off x="685800" y="35242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supervised_pretrain_policy: actor initialization</a:t>
            </a:r>
          </a:p>
        </p:txBody>
      </p:sp>
      <p:sp>
        <p:nvSpPr>
          <p:cNvPr id="8" name="">
            <a:extLst xmlns:a="http://schemas.openxmlformats.org/drawingml/2006/main">
              <a:ext uri="{FF2B5EF4-FFF2-40B4-BE49-F238E27FC236}">
                <a16:creationId xmlns:a16="http://schemas.microsoft.com/office/drawing/2014/main" id="{9F07063F-8275-40FA-971F-8847ABB74146}"/>
              </a:ext>
            </a:extLst>
          </p:cNvPr>
          <p:cNvSpPr>
            <a:spLocks xmlns:a="http://schemas.openxmlformats.org/drawingml/2006/main" noGrp="1"/>
          </p:cNvSpPr>
          <p:nvPr/>
        </p:nvSpPr>
        <p:spPr>
          <a:xfrm xmlns:a="http://schemas.openxmlformats.org/drawingml/2006/main">
            <a:off x="685800" y="39433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train_actor_critic: final RL fine-tuning</a:t>
            </a:r>
          </a:p>
        </p:txBody>
      </p:sp>
      <p:sp>
        <p:nvSpPr>
          <p:cNvPr id="9" name="">
            <a:extLst xmlns:a="http://schemas.openxmlformats.org/drawingml/2006/main">
              <a:ext uri="{FF2B5EF4-FFF2-40B4-BE49-F238E27FC236}">
                <a16:creationId xmlns:a16="http://schemas.microsoft.com/office/drawing/2014/main" id="{0B4769DE-1822-4A58-A6A6-E7B6953C29CE}"/>
              </a:ext>
            </a:extLst>
          </p:cNvPr>
          <p:cNvSpPr>
            <a:spLocks xmlns:a="http://schemas.openxmlformats.org/drawingml/2006/main" noGrp="1"/>
          </p:cNvSpPr>
          <p:nvPr/>
        </p:nvSpPr>
        <p:spPr>
          <a:xfrm xmlns:a="http://schemas.openxmlformats.org/drawingml/2006/main">
            <a:off x="685800" y="43624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evaluate_hier_by_example: greedy test rollout</a:t>
            </a:r>
          </a:p>
        </p:txBody>
      </p:sp>
      <p:sp>
        <p:nvSpPr>
          <p:cNvPr id="10" name="">
            <a:extLst xmlns:a="http://schemas.openxmlformats.org/drawingml/2006/main">
              <a:ext uri="{FF2B5EF4-FFF2-40B4-BE49-F238E27FC236}">
                <a16:creationId xmlns:a16="http://schemas.microsoft.com/office/drawing/2014/main" id="{D7CA369D-C0FE-4FB0-8559-00862F94F6CF}"/>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11" name="">
            <a:extLst xmlns:a="http://schemas.openxmlformats.org/drawingml/2006/main">
              <a:ext uri="{FF2B5EF4-FFF2-40B4-BE49-F238E27FC236}">
                <a16:creationId xmlns:a16="http://schemas.microsoft.com/office/drawing/2014/main" id="{8D880185-4598-47FD-BF37-EE20895CB7FB}"/>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If I am asked about implementation, I can explain the code in this order: environment first, then masked policy, then supervised initialization, then Actor-Critic fine-tuning, and finally evaluation on the paraphrased test subset.</a:t>
            </a:r>
          </a:p>
        </p:txBody>
      </p:sp>
      <p:sp>
        <p:nvSpPr>
          <p:cNvPr id="12" name="">
            <a:extLst xmlns:a="http://schemas.openxmlformats.org/drawingml/2006/main">
              <a:ext uri="{FF2B5EF4-FFF2-40B4-BE49-F238E27FC236}">
                <a16:creationId xmlns:a16="http://schemas.microsoft.com/office/drawing/2014/main" id="{0018E74D-172E-4E06-9CE5-5B9DE9B49B8E}"/>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13" name="">
            <a:extLst xmlns:a="http://schemas.openxmlformats.org/drawingml/2006/main">
              <a:ext uri="{FF2B5EF4-FFF2-40B4-BE49-F238E27FC236}">
                <a16:creationId xmlns:a16="http://schemas.microsoft.com/office/drawing/2014/main" id="{30655063-B484-4E10-B5CC-382CA41DA894}"/>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22</a:t>
            </a:r>
          </a:p>
        </p:txBody>
      </p:sp>
    </p:spTree>
    <p:extLst>
      <p:ext uri="{BB962C8B-B14F-4D97-AF65-F5344CB8AC3E}">
        <p14:creationId xmlns:p14="http://schemas.microsoft.com/office/powerpoint/2010/main" val="56793956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A72541-2879-4588-9C0A-875A074BEDAA}"/>
              </a:ext>
            </a:extLst>
          </p:cNvPr>
          <p:cNvSpPr>
            <a:spLocks xmlns:a="http://schemas.openxmlformats.org/drawingml/2006/main" noGrp="1"/>
          </p:cNvSpPr>
          <p:nvPr/>
        </p:nvSpPr>
        <p:spPr>
          <a:xfrm xmlns:a="http://schemas.openxmlformats.org/drawingml/2006/main">
            <a:off x="495300" y="266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buNone/>
              <a:defRPr sz="2175" b="1">
                <a:solidFill>
                  <a:srgbClr val="17324D"/>
                </a:solidFill>
                <a:latin typeface="Noto Sans"/>
                <a:ea typeface="Noto Sans"/>
                <a:cs typeface="Noto Sans"/>
              </a:defRPr>
            </a:pPr>
            <a:r>
              <a:rPr sz="2175" b="1">
                <a:solidFill>
                  <a:srgbClr val="17324D"/>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1148E883-F637-44A9-A755-15F16292E9CA}"/>
              </a:ext>
            </a:extLst>
          </p:cNvPr>
          <p:cNvSpPr>
            <a:spLocks xmlns:a="http://schemas.openxmlformats.org/drawingml/2006/main" noGrp="1"/>
          </p:cNvSpPr>
          <p:nvPr/>
        </p:nvSpPr>
        <p:spPr>
          <a:xfrm xmlns:a="http://schemas.openxmlformats.org/drawingml/2006/main">
            <a:off x="514350" y="7143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0">
                <a:solidFill>
                  <a:srgbClr val="526271"/>
                </a:solidFill>
                <a:latin typeface="Noto Sans"/>
                <a:ea typeface="Noto Sans"/>
                <a:cs typeface="Noto Sans"/>
              </a:defRPr>
            </a:pPr>
            <a:r>
              <a:rPr sz="1125" b="0">
                <a:solidFill>
                  <a:srgbClr val="526271"/>
                </a:solidFill>
                <a:latin typeface="Noto Sans"/>
                <a:ea typeface="Noto Sans"/>
                <a:cs typeface="Noto Sans"/>
              </a:rPr>
              <a:t>What the project demonstrates</a:t>
            </a:r>
          </a:p>
        </p:txBody>
      </p:sp>
      <p:sp>
        <p:nvSpPr>
          <p:cNvPr id="3" name="">
            <a:extLst xmlns:a="http://schemas.openxmlformats.org/drawingml/2006/main">
              <a:ext uri="{FF2B5EF4-FFF2-40B4-BE49-F238E27FC236}">
                <a16:creationId xmlns:a16="http://schemas.microsoft.com/office/drawing/2014/main" id="{A73D02AA-D13C-4567-B9E8-76FF6F7E8C8F}"/>
              </a:ext>
            </a:extLst>
          </p:cNvPr>
          <p:cNvSpPr>
            <a:spLocks xmlns:a="http://schemas.openxmlformats.org/drawingml/2006/main" noGrp="1"/>
          </p:cNvSpPr>
          <p:nvPr/>
        </p:nvSpPr>
        <p:spPr>
          <a:xfrm xmlns:a="http://schemas.openxmlformats.org/drawingml/2006/main">
            <a:off x="495300" y="1066800"/>
            <a:ext cx="11144250" cy="190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ln>
        </p:spPr>
        <p:txBody>
          <a:bodyPr xmlns:a="http://schemas.openxmlformats.org/drawingml/2006/main">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30BB730-030C-4479-B484-79EAFD2C97C2}"/>
              </a:ext>
            </a:extLst>
          </p:cNvPr>
          <p:cNvSpPr>
            <a:spLocks xmlns:a="http://schemas.openxmlformats.org/drawingml/2006/main" noGrp="1"/>
          </p:cNvSpPr>
          <p:nvPr/>
        </p:nvSpPr>
        <p:spPr>
          <a:xfrm xmlns:a="http://schemas.openxmlformats.org/drawingml/2006/main">
            <a:off x="685800" y="1314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17212B"/>
                </a:solidFill>
                <a:latin typeface="Noto Sans"/>
                <a:ea typeface="Noto Sans"/>
                <a:cs typeface="Noto Sans"/>
              </a:defRPr>
            </a:pPr>
            <a:r>
              <a:rPr sz="1350" b="0">
                <a:solidFill>
                  <a:srgbClr val="17212B"/>
                </a:solidFill>
                <a:latin typeface="Noto Sans"/>
                <a:ea typeface="Noto Sans"/>
                <a:cs typeface="Noto Sans"/>
              </a:rPr>
              <a:t>The project demonstrates that a Text-to-Cypher pipeline can be formulated as a reinforcement learning environment with hierarchical actions. The agent controls rewriting, hop prediction and schema path selection. Action masking and reward design make the problem tractable. Actor-Critic fine-tuning improves the initialized policy and provides the final RL component of the project.</a:t>
            </a:r>
          </a:p>
        </p:txBody>
      </p:sp>
      <p:sp>
        <p:nvSpPr>
          <p:cNvPr id="5" name="">
            <a:extLst xmlns:a="http://schemas.openxmlformats.org/drawingml/2006/main">
              <a:ext uri="{FF2B5EF4-FFF2-40B4-BE49-F238E27FC236}">
                <a16:creationId xmlns:a16="http://schemas.microsoft.com/office/drawing/2014/main" id="{5A10E353-4196-4886-BEC9-3DB30B767E41}"/>
              </a:ext>
            </a:extLst>
          </p:cNvPr>
          <p:cNvSpPr>
            <a:spLocks xmlns:a="http://schemas.openxmlformats.org/drawingml/2006/main" noGrp="1"/>
          </p:cNvSpPr>
          <p:nvPr/>
        </p:nvSpPr>
        <p:spPr>
          <a:xfrm xmlns:a="http://schemas.openxmlformats.org/drawingml/2006/main">
            <a:off x="685800" y="2686050"/>
            <a:ext cx="9953625" cy="323850"/>
          </a:xfrm>
          <a:prstGeom xmlns:a="http://schemas.openxmlformats.org/drawingml/2006/main" prst="rect">
            <a:avLst/>
          </a:prstGeom>
          <a:solidFill xmlns:a="http://schemas.openxmlformats.org/drawingml/2006/main">
            <a:srgbClr val="F4F7F9"/>
          </a:solidFill>
          <a:ln xmlns:a="http://schemas.openxmlformats.org/drawingml/2006/main" w="9525">
            <a:solidFill>
              <a:srgbClr val="C9D5DE"/>
            </a:solid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17324D"/>
                </a:solidFill>
                <a:latin typeface="Noto Sans"/>
                <a:ea typeface="Noto Sans"/>
                <a:cs typeface="Noto Sans"/>
              </a:defRPr>
            </a:pPr>
            <a:r>
              <a:rPr sz="1200" b="1">
                <a:solidFill>
                  <a:srgbClr val="17324D"/>
                </a:solidFill>
                <a:latin typeface="Noto Sans"/>
                <a:ea typeface="Noto Sans"/>
                <a:cs typeface="Noto Sans"/>
              </a:rPr>
              <a:t>Core contribution: RL control of schema-aware Text-to-Cypher decisions</a:t>
            </a:r>
          </a:p>
        </p:txBody>
      </p:sp>
      <p:sp>
        <p:nvSpPr>
          <p:cNvPr id="6" name="">
            <a:extLst xmlns:a="http://schemas.openxmlformats.org/drawingml/2006/main">
              <a:ext uri="{FF2B5EF4-FFF2-40B4-BE49-F238E27FC236}">
                <a16:creationId xmlns:a16="http://schemas.microsoft.com/office/drawing/2014/main" id="{2016F27E-15A1-4D01-BC4C-36D371114447}"/>
              </a:ext>
            </a:extLst>
          </p:cNvPr>
          <p:cNvSpPr>
            <a:spLocks xmlns:a="http://schemas.openxmlformats.org/drawingml/2006/main" noGrp="1"/>
          </p:cNvSpPr>
          <p:nvPr/>
        </p:nvSpPr>
        <p:spPr>
          <a:xfrm xmlns:a="http://schemas.openxmlformats.org/drawingml/2006/main">
            <a:off x="666750" y="4562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F766E"/>
                </a:solidFill>
                <a:latin typeface="Noto Sans"/>
                <a:ea typeface="Noto Sans"/>
                <a:cs typeface="Noto Sans"/>
              </a:defRPr>
            </a:pPr>
            <a:r>
              <a:rPr sz="975" b="1">
                <a:solidFill>
                  <a:srgbClr val="0F766E"/>
                </a:solidFill>
                <a:latin typeface="Noto Sans"/>
                <a:ea typeface="Noto Sans"/>
                <a:cs typeface="Noto Sans"/>
              </a:rPr>
              <a:t>Presentation script</a:t>
            </a:r>
          </a:p>
        </p:txBody>
      </p:sp>
      <p:sp>
        <p:nvSpPr>
          <p:cNvPr id="7" name="">
            <a:extLst xmlns:a="http://schemas.openxmlformats.org/drawingml/2006/main">
              <a:ext uri="{FF2B5EF4-FFF2-40B4-BE49-F238E27FC236}">
                <a16:creationId xmlns:a16="http://schemas.microsoft.com/office/drawing/2014/main" id="{C4E3E4B6-3911-4AF2-BAAA-E29D6D9946AC}"/>
              </a:ext>
            </a:extLst>
          </p:cNvPr>
          <p:cNvSpPr>
            <a:spLocks xmlns:a="http://schemas.openxmlformats.org/drawingml/2006/main" noGrp="1"/>
          </p:cNvSpPr>
          <p:nvPr/>
        </p:nvSpPr>
        <p:spPr>
          <a:xfrm xmlns:a="http://schemas.openxmlformats.org/drawingml/2006/main">
            <a:off x="666750" y="4810125"/>
            <a:ext cx="10363200" cy="1238250"/>
          </a:xfrm>
          <a:prstGeom xmlns:a="http://schemas.openxmlformats.org/drawingml/2006/main" prst="rect">
            <a:avLst/>
          </a:prstGeom>
          <a:solidFill xmlns:a="http://schemas.openxmlformats.org/drawingml/2006/main">
            <a:srgbClr val="ECF7F5"/>
          </a:solidFill>
          <a:ln xmlns:a="http://schemas.openxmlformats.org/drawingml/2006/main" w="9525">
            <a:solidFill>
              <a:srgbClr val="B8DDD7"/>
            </a:solid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17212B"/>
                </a:solidFill>
                <a:latin typeface="Noto Sans"/>
                <a:ea typeface="Noto Sans"/>
                <a:cs typeface="Noto Sans"/>
              </a:defRPr>
            </a:pPr>
            <a:r>
              <a:rPr sz="1275" b="0">
                <a:solidFill>
                  <a:srgbClr val="17212B"/>
                </a:solidFill>
                <a:latin typeface="Noto Sans"/>
                <a:ea typeface="Noto Sans"/>
                <a:cs typeface="Noto Sans"/>
              </a:rPr>
              <a:t>My final conclusion is that reinforcement learning is useful here not as free-form text generation, but as structured control over intermediate decisions in a language-to-graph-query pipeline.</a:t>
            </a:r>
          </a:p>
        </p:txBody>
      </p:sp>
      <p:sp>
        <p:nvSpPr>
          <p:cNvPr id="8" name="">
            <a:extLst xmlns:a="http://schemas.openxmlformats.org/drawingml/2006/main">
              <a:ext uri="{FF2B5EF4-FFF2-40B4-BE49-F238E27FC236}">
                <a16:creationId xmlns:a16="http://schemas.microsoft.com/office/drawing/2014/main" id="{475E8FAA-1A75-4DF2-BC42-B705E141B081}"/>
              </a:ext>
            </a:extLst>
          </p:cNvPr>
          <p:cNvSpPr>
            <a:spLocks xmlns:a="http://schemas.openxmlformats.org/drawingml/2006/main" noGrp="1"/>
          </p:cNvSpPr>
          <p:nvPr/>
        </p:nvSpPr>
        <p:spPr>
          <a:xfrm xmlns:a="http://schemas.openxmlformats.org/drawingml/2006/main">
            <a:off x="514350" y="65341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Detailed oral defense script</a:t>
            </a:r>
          </a:p>
        </p:txBody>
      </p:sp>
      <p:sp>
        <p:nvSpPr>
          <p:cNvPr id="9" name="">
            <a:extLst xmlns:a="http://schemas.openxmlformats.org/drawingml/2006/main">
              <a:ext uri="{FF2B5EF4-FFF2-40B4-BE49-F238E27FC236}">
                <a16:creationId xmlns:a16="http://schemas.microsoft.com/office/drawing/2014/main" id="{E54B8575-DFEB-4A69-9882-C31072046B8A}"/>
              </a:ext>
            </a:extLst>
          </p:cNvPr>
          <p:cNvSpPr>
            <a:spLocks xmlns:a="http://schemas.openxmlformats.org/drawingml/2006/main" noGrp="1"/>
          </p:cNvSpPr>
          <p:nvPr/>
        </p:nvSpPr>
        <p:spPr>
          <a:xfrm xmlns:a="http://schemas.openxmlformats.org/drawingml/2006/main">
            <a:off x="11334750" y="65341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526271"/>
                </a:solidFill>
                <a:latin typeface="Noto Sans"/>
                <a:ea typeface="Noto Sans"/>
                <a:cs typeface="Noto Sans"/>
              </a:defRPr>
            </a:pPr>
            <a:r>
              <a:rPr sz="750" b="0">
                <a:solidFill>
                  <a:srgbClr val="526271"/>
                </a:solidFill>
                <a:latin typeface="Noto Sans"/>
                <a:ea typeface="Noto Sans"/>
                <a:cs typeface="Noto Sans"/>
              </a:rPr>
              <a:t>23</a:t>
            </a:r>
          </a:p>
        </p:txBody>
      </p:sp>
    </p:spTree>
    <p:extLst>
      <p:ext uri="{BB962C8B-B14F-4D97-AF65-F5344CB8AC3E}">
        <p14:creationId xmlns:p14="http://schemas.microsoft.com/office/powerpoint/2010/main" val="900280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2026-09-22T11:13:00.5020000Z</dcterms:created>
  <dcterms:modified xsi:type="dcterms:W3CDTF">2026-09-22T11:13:00.5020000Z</dcterms:modified>
</coreProperties>
</file>